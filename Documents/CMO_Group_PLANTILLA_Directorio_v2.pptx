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g+ZXqb0LLPgAuF0KCAcveZowVR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4A15BE-4165-4B45-9A00-5D40426D53E9}">
  <a:tblStyle styleId="{0F4A15BE-4165-4B45-9A00-5D40426D5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679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hovanny merino" userId="293e63627b939b02" providerId="LiveId" clId="{13EF4B44-C2DC-4FC5-A362-2149C6341EE7}"/>
    <pc:docChg chg="undo custSel modSld">
      <pc:chgData name="jhovanny merino" userId="293e63627b939b02" providerId="LiveId" clId="{13EF4B44-C2DC-4FC5-A362-2149C6341EE7}" dt="2026-03-23T12:38:10.567" v="158" actId="2165"/>
      <pc:docMkLst>
        <pc:docMk/>
      </pc:docMkLst>
      <pc:sldChg chg="modSp mod">
        <pc:chgData name="jhovanny merino" userId="293e63627b939b02" providerId="LiveId" clId="{13EF4B44-C2DC-4FC5-A362-2149C6341EE7}" dt="2026-03-23T12:28:53.874" v="9" actId="403"/>
        <pc:sldMkLst>
          <pc:docMk/>
          <pc:sldMk cId="0" sldId="259"/>
        </pc:sldMkLst>
        <pc:graphicFrameChg chg="modGraphic">
          <ac:chgData name="jhovanny merino" userId="293e63627b939b02" providerId="LiveId" clId="{13EF4B44-C2DC-4FC5-A362-2149C6341EE7}" dt="2026-03-23T12:28:53.874" v="9" actId="403"/>
          <ac:graphicFrameMkLst>
            <pc:docMk/>
            <pc:sldMk cId="0" sldId="259"/>
            <ac:graphicFrameMk id="154" creationId="{00000000-0000-0000-0000-000000000000}"/>
          </ac:graphicFrameMkLst>
        </pc:graphicFrameChg>
      </pc:sldChg>
      <pc:sldChg chg="modSp mod">
        <pc:chgData name="jhovanny merino" userId="293e63627b939b02" providerId="LiveId" clId="{13EF4B44-C2DC-4FC5-A362-2149C6341EE7}" dt="2026-03-23T12:38:10.567" v="158" actId="2165"/>
        <pc:sldMkLst>
          <pc:docMk/>
          <pc:sldMk cId="0" sldId="260"/>
        </pc:sldMkLst>
        <pc:graphicFrameChg chg="modGraphic">
          <ac:chgData name="jhovanny merino" userId="293e63627b939b02" providerId="LiveId" clId="{13EF4B44-C2DC-4FC5-A362-2149C6341EE7}" dt="2026-03-23T12:38:10.567" v="158" actId="2165"/>
          <ac:graphicFrameMkLst>
            <pc:docMk/>
            <pc:sldMk cId="0" sldId="260"/>
            <ac:graphicFrameMk id="168" creationId="{00000000-0000-0000-0000-000000000000}"/>
          </ac:graphicFrameMkLst>
        </pc:graphicFrameChg>
      </pc:sldChg>
      <pc:sldChg chg="modSp mod">
        <pc:chgData name="jhovanny merino" userId="293e63627b939b02" providerId="LiveId" clId="{13EF4B44-C2DC-4FC5-A362-2149C6341EE7}" dt="2026-03-23T12:37:56.363" v="156" actId="2165"/>
        <pc:sldMkLst>
          <pc:docMk/>
          <pc:sldMk cId="0" sldId="261"/>
        </pc:sldMkLst>
        <pc:graphicFrameChg chg="modGraphic">
          <ac:chgData name="jhovanny merino" userId="293e63627b939b02" providerId="LiveId" clId="{13EF4B44-C2DC-4FC5-A362-2149C6341EE7}" dt="2026-03-23T12:37:51.662" v="155" actId="2165"/>
          <ac:graphicFrameMkLst>
            <pc:docMk/>
            <pc:sldMk cId="0" sldId="261"/>
            <ac:graphicFrameMk id="178" creationId="{00000000-0000-0000-0000-000000000000}"/>
          </ac:graphicFrameMkLst>
        </pc:graphicFrameChg>
        <pc:graphicFrameChg chg="modGraphic">
          <ac:chgData name="jhovanny merino" userId="293e63627b939b02" providerId="LiveId" clId="{13EF4B44-C2DC-4FC5-A362-2149C6341EE7}" dt="2026-03-23T12:37:56.363" v="156" actId="2165"/>
          <ac:graphicFrameMkLst>
            <pc:docMk/>
            <pc:sldMk cId="0" sldId="261"/>
            <ac:graphicFrameMk id="181" creationId="{00000000-0000-0000-0000-000000000000}"/>
          </ac:graphicFrameMkLst>
        </pc:graphicFrameChg>
      </pc:sldChg>
      <pc:sldChg chg="modSp mod">
        <pc:chgData name="jhovanny merino" userId="293e63627b939b02" providerId="LiveId" clId="{13EF4B44-C2DC-4FC5-A362-2149C6341EE7}" dt="2026-03-23T12:34:35.784" v="120" actId="2165"/>
        <pc:sldMkLst>
          <pc:docMk/>
          <pc:sldMk cId="0" sldId="262"/>
        </pc:sldMkLst>
        <pc:spChg chg="mod">
          <ac:chgData name="jhovanny merino" userId="293e63627b939b02" providerId="LiveId" clId="{13EF4B44-C2DC-4FC5-A362-2149C6341EE7}" dt="2026-03-23T12:34:08.626" v="115" actId="14100"/>
          <ac:spMkLst>
            <pc:docMk/>
            <pc:sldMk cId="0" sldId="262"/>
            <ac:spMk id="193" creationId="{00000000-0000-0000-0000-000000000000}"/>
          </ac:spMkLst>
        </pc:spChg>
        <pc:spChg chg="mod">
          <ac:chgData name="jhovanny merino" userId="293e63627b939b02" providerId="LiveId" clId="{13EF4B44-C2DC-4FC5-A362-2149C6341EE7}" dt="2026-03-23T12:34:12.092" v="116" actId="14100"/>
          <ac:spMkLst>
            <pc:docMk/>
            <pc:sldMk cId="0" sldId="262"/>
            <ac:spMk id="195" creationId="{00000000-0000-0000-0000-000000000000}"/>
          </ac:spMkLst>
        </pc:spChg>
        <pc:graphicFrameChg chg="mod modGraphic">
          <ac:chgData name="jhovanny merino" userId="293e63627b939b02" providerId="LiveId" clId="{13EF4B44-C2DC-4FC5-A362-2149C6341EE7}" dt="2026-03-23T12:34:00.461" v="114" actId="14100"/>
          <ac:graphicFrameMkLst>
            <pc:docMk/>
            <pc:sldMk cId="0" sldId="262"/>
            <ac:graphicFrameMk id="191" creationId="{00000000-0000-0000-0000-000000000000}"/>
          </ac:graphicFrameMkLst>
        </pc:graphicFrameChg>
        <pc:graphicFrameChg chg="mod modGraphic">
          <ac:chgData name="jhovanny merino" userId="293e63627b939b02" providerId="LiveId" clId="{13EF4B44-C2DC-4FC5-A362-2149C6341EE7}" dt="2026-03-23T12:34:35.784" v="120" actId="2165"/>
          <ac:graphicFrameMkLst>
            <pc:docMk/>
            <pc:sldMk cId="0" sldId="262"/>
            <ac:graphicFrameMk id="192" creationId="{00000000-0000-0000-0000-000000000000}"/>
          </ac:graphicFrameMkLst>
        </pc:graphicFrameChg>
      </pc:sldChg>
      <pc:sldChg chg="delSp modSp mod">
        <pc:chgData name="jhovanny merino" userId="293e63627b939b02" providerId="LiveId" clId="{13EF4B44-C2DC-4FC5-A362-2149C6341EE7}" dt="2026-03-23T12:30:24.451" v="66" actId="1076"/>
        <pc:sldMkLst>
          <pc:docMk/>
          <pc:sldMk cId="0" sldId="264"/>
        </pc:sldMkLst>
        <pc:spChg chg="mod">
          <ac:chgData name="jhovanny merino" userId="293e63627b939b02" providerId="LiveId" clId="{13EF4B44-C2DC-4FC5-A362-2149C6341EE7}" dt="2026-03-23T12:29:54.159" v="15" actId="1076"/>
          <ac:spMkLst>
            <pc:docMk/>
            <pc:sldMk cId="0" sldId="264"/>
            <ac:spMk id="213" creationId="{00000000-0000-0000-0000-000000000000}"/>
          </ac:spMkLst>
        </pc:spChg>
        <pc:spChg chg="mod">
          <ac:chgData name="jhovanny merino" userId="293e63627b939b02" providerId="LiveId" clId="{13EF4B44-C2DC-4FC5-A362-2149C6341EE7}" dt="2026-03-23T12:30:17.682" v="65" actId="1038"/>
          <ac:spMkLst>
            <pc:docMk/>
            <pc:sldMk cId="0" sldId="264"/>
            <ac:spMk id="216" creationId="{00000000-0000-0000-0000-000000000000}"/>
          </ac:spMkLst>
        </pc:spChg>
        <pc:spChg chg="mod">
          <ac:chgData name="jhovanny merino" userId="293e63627b939b02" providerId="LiveId" clId="{13EF4B44-C2DC-4FC5-A362-2149C6341EE7}" dt="2026-03-23T12:30:17.682" v="65" actId="1038"/>
          <ac:spMkLst>
            <pc:docMk/>
            <pc:sldMk cId="0" sldId="264"/>
            <ac:spMk id="218" creationId="{00000000-0000-0000-0000-000000000000}"/>
          </ac:spMkLst>
        </pc:spChg>
        <pc:spChg chg="mod">
          <ac:chgData name="jhovanny merino" userId="293e63627b939b02" providerId="LiveId" clId="{13EF4B44-C2DC-4FC5-A362-2149C6341EE7}" dt="2026-03-23T12:30:17.682" v="65" actId="1038"/>
          <ac:spMkLst>
            <pc:docMk/>
            <pc:sldMk cId="0" sldId="264"/>
            <ac:spMk id="221" creationId="{00000000-0000-0000-0000-000000000000}"/>
          </ac:spMkLst>
        </pc:spChg>
        <pc:spChg chg="mod">
          <ac:chgData name="jhovanny merino" userId="293e63627b939b02" providerId="LiveId" clId="{13EF4B44-C2DC-4FC5-A362-2149C6341EE7}" dt="2026-03-23T12:30:17.682" v="65" actId="1038"/>
          <ac:spMkLst>
            <pc:docMk/>
            <pc:sldMk cId="0" sldId="264"/>
            <ac:spMk id="227" creationId="{00000000-0000-0000-0000-000000000000}"/>
          </ac:spMkLst>
        </pc:spChg>
        <pc:spChg chg="mod">
          <ac:chgData name="jhovanny merino" userId="293e63627b939b02" providerId="LiveId" clId="{13EF4B44-C2DC-4FC5-A362-2149C6341EE7}" dt="2026-03-23T12:30:24.451" v="66" actId="1076"/>
          <ac:spMkLst>
            <pc:docMk/>
            <pc:sldMk cId="0" sldId="264"/>
            <ac:spMk id="228" creationId="{00000000-0000-0000-0000-000000000000}"/>
          </ac:spMkLst>
        </pc:spChg>
        <pc:spChg chg="mod">
          <ac:chgData name="jhovanny merino" userId="293e63627b939b02" providerId="LiveId" clId="{13EF4B44-C2DC-4FC5-A362-2149C6341EE7}" dt="2026-03-23T12:30:17.682" v="65" actId="1038"/>
          <ac:spMkLst>
            <pc:docMk/>
            <pc:sldMk cId="0" sldId="264"/>
            <ac:spMk id="229" creationId="{00000000-0000-0000-0000-000000000000}"/>
          </ac:spMkLst>
        </pc:spChg>
        <pc:spChg chg="mod">
          <ac:chgData name="jhovanny merino" userId="293e63627b939b02" providerId="LiveId" clId="{13EF4B44-C2DC-4FC5-A362-2149C6341EE7}" dt="2026-03-23T12:30:17.682" v="65" actId="1038"/>
          <ac:spMkLst>
            <pc:docMk/>
            <pc:sldMk cId="0" sldId="264"/>
            <ac:spMk id="230" creationId="{00000000-0000-0000-0000-000000000000}"/>
          </ac:spMkLst>
        </pc:spChg>
        <pc:spChg chg="mod">
          <ac:chgData name="jhovanny merino" userId="293e63627b939b02" providerId="LiveId" clId="{13EF4B44-C2DC-4FC5-A362-2149C6341EE7}" dt="2026-03-23T12:30:17.682" v="65" actId="1038"/>
          <ac:spMkLst>
            <pc:docMk/>
            <pc:sldMk cId="0" sldId="264"/>
            <ac:spMk id="231" creationId="{00000000-0000-0000-0000-000000000000}"/>
          </ac:spMkLst>
        </pc:spChg>
        <pc:spChg chg="mod">
          <ac:chgData name="jhovanny merino" userId="293e63627b939b02" providerId="LiveId" clId="{13EF4B44-C2DC-4FC5-A362-2149C6341EE7}" dt="2026-03-23T12:30:17.682" v="65" actId="1038"/>
          <ac:spMkLst>
            <pc:docMk/>
            <pc:sldMk cId="0" sldId="264"/>
            <ac:spMk id="232" creationId="{00000000-0000-0000-0000-000000000000}"/>
          </ac:spMkLst>
        </pc:spChg>
        <pc:spChg chg="mod">
          <ac:chgData name="jhovanny merino" userId="293e63627b939b02" providerId="LiveId" clId="{13EF4B44-C2DC-4FC5-A362-2149C6341EE7}" dt="2026-03-23T12:30:17.682" v="65" actId="1038"/>
          <ac:spMkLst>
            <pc:docMk/>
            <pc:sldMk cId="0" sldId="264"/>
            <ac:spMk id="234" creationId="{00000000-0000-0000-0000-000000000000}"/>
          </ac:spMkLst>
        </pc:spChg>
        <pc:spChg chg="mod">
          <ac:chgData name="jhovanny merino" userId="293e63627b939b02" providerId="LiveId" clId="{13EF4B44-C2DC-4FC5-A362-2149C6341EE7}" dt="2026-03-23T12:30:17.682" v="65" actId="1038"/>
          <ac:spMkLst>
            <pc:docMk/>
            <pc:sldMk cId="0" sldId="264"/>
            <ac:spMk id="236" creationId="{00000000-0000-0000-0000-000000000000}"/>
          </ac:spMkLst>
        </pc:spChg>
        <pc:spChg chg="del">
          <ac:chgData name="jhovanny merino" userId="293e63627b939b02" providerId="LiveId" clId="{13EF4B44-C2DC-4FC5-A362-2149C6341EE7}" dt="2026-03-23T12:29:43.331" v="12" actId="478"/>
          <ac:spMkLst>
            <pc:docMk/>
            <pc:sldMk cId="0" sldId="264"/>
            <ac:spMk id="237" creationId="{00000000-0000-0000-0000-000000000000}"/>
          </ac:spMkLst>
        </pc:spChg>
        <pc:spChg chg="del">
          <ac:chgData name="jhovanny merino" userId="293e63627b939b02" providerId="LiveId" clId="{13EF4B44-C2DC-4FC5-A362-2149C6341EE7}" dt="2026-03-23T12:29:48.097" v="13" actId="478"/>
          <ac:spMkLst>
            <pc:docMk/>
            <pc:sldMk cId="0" sldId="264"/>
            <ac:spMk id="238" creationId="{00000000-0000-0000-0000-000000000000}"/>
          </ac:spMkLst>
        </pc:spChg>
        <pc:spChg chg="del">
          <ac:chgData name="jhovanny merino" userId="293e63627b939b02" providerId="LiveId" clId="{13EF4B44-C2DC-4FC5-A362-2149C6341EE7}" dt="2026-03-23T12:29:41.175" v="11" actId="478"/>
          <ac:spMkLst>
            <pc:docMk/>
            <pc:sldMk cId="0" sldId="264"/>
            <ac:spMk id="239" creationId="{00000000-0000-0000-0000-000000000000}"/>
          </ac:spMkLst>
        </pc:spChg>
        <pc:spChg chg="del">
          <ac:chgData name="jhovanny merino" userId="293e63627b939b02" providerId="LiveId" clId="{13EF4B44-C2DC-4FC5-A362-2149C6341EE7}" dt="2026-03-23T12:29:48.097" v="13" actId="478"/>
          <ac:spMkLst>
            <pc:docMk/>
            <pc:sldMk cId="0" sldId="264"/>
            <ac:spMk id="240" creationId="{00000000-0000-0000-0000-000000000000}"/>
          </ac:spMkLst>
        </pc:spChg>
        <pc:spChg chg="del">
          <ac:chgData name="jhovanny merino" userId="293e63627b939b02" providerId="LiveId" clId="{13EF4B44-C2DC-4FC5-A362-2149C6341EE7}" dt="2026-03-23T12:29:41.175" v="11" actId="478"/>
          <ac:spMkLst>
            <pc:docMk/>
            <pc:sldMk cId="0" sldId="264"/>
            <ac:spMk id="241" creationId="{00000000-0000-0000-0000-000000000000}"/>
          </ac:spMkLst>
        </pc:spChg>
        <pc:spChg chg="del">
          <ac:chgData name="jhovanny merino" userId="293e63627b939b02" providerId="LiveId" clId="{13EF4B44-C2DC-4FC5-A362-2149C6341EE7}" dt="2026-03-23T12:29:41.175" v="11" actId="478"/>
          <ac:spMkLst>
            <pc:docMk/>
            <pc:sldMk cId="0" sldId="264"/>
            <ac:spMk id="242" creationId="{00000000-0000-0000-0000-000000000000}"/>
          </ac:spMkLst>
        </pc:spChg>
        <pc:spChg chg="del">
          <ac:chgData name="jhovanny merino" userId="293e63627b939b02" providerId="LiveId" clId="{13EF4B44-C2DC-4FC5-A362-2149C6341EE7}" dt="2026-03-23T12:29:48.097" v="13" actId="478"/>
          <ac:spMkLst>
            <pc:docMk/>
            <pc:sldMk cId="0" sldId="264"/>
            <ac:spMk id="243" creationId="{00000000-0000-0000-0000-000000000000}"/>
          </ac:spMkLst>
        </pc:spChg>
        <pc:graphicFrameChg chg="modGraphic">
          <ac:chgData name="jhovanny merino" userId="293e63627b939b02" providerId="LiveId" clId="{13EF4B44-C2DC-4FC5-A362-2149C6341EE7}" dt="2026-03-23T12:29:28.898" v="10" actId="2165"/>
          <ac:graphicFrameMkLst>
            <pc:docMk/>
            <pc:sldMk cId="0" sldId="264"/>
            <ac:graphicFrameMk id="246" creationId="{00000000-0000-0000-0000-000000000000}"/>
          </ac:graphicFrameMkLst>
        </pc:graphicFrameChg>
      </pc:sldChg>
      <pc:sldChg chg="modSp mod">
        <pc:chgData name="jhovanny merino" userId="293e63627b939b02" providerId="LiveId" clId="{13EF4B44-C2DC-4FC5-A362-2149C6341EE7}" dt="2026-03-23T12:35:58.560" v="144" actId="20577"/>
        <pc:sldMkLst>
          <pc:docMk/>
          <pc:sldMk cId="0" sldId="266"/>
        </pc:sldMkLst>
        <pc:graphicFrameChg chg="modGraphic">
          <ac:chgData name="jhovanny merino" userId="293e63627b939b02" providerId="LiveId" clId="{13EF4B44-C2DC-4FC5-A362-2149C6341EE7}" dt="2026-03-23T12:35:58.560" v="144" actId="20577"/>
          <ac:graphicFrameMkLst>
            <pc:docMk/>
            <pc:sldMk cId="0" sldId="266"/>
            <ac:graphicFrameMk id="310" creationId="{00000000-0000-0000-0000-000000000000}"/>
          </ac:graphicFrameMkLst>
        </pc:graphicFrameChg>
      </pc:sldChg>
      <pc:sldChg chg="modSp mod">
        <pc:chgData name="jhovanny merino" userId="293e63627b939b02" providerId="LiveId" clId="{13EF4B44-C2DC-4FC5-A362-2149C6341EE7}" dt="2026-03-23T12:37:06.706" v="153" actId="1076"/>
        <pc:sldMkLst>
          <pc:docMk/>
          <pc:sldMk cId="0" sldId="268"/>
        </pc:sldMkLst>
        <pc:spChg chg="mod">
          <ac:chgData name="jhovanny merino" userId="293e63627b939b02" providerId="LiveId" clId="{13EF4B44-C2DC-4FC5-A362-2149C6341EE7}" dt="2026-03-23T12:37:06.706" v="153" actId="1076"/>
          <ac:spMkLst>
            <pc:docMk/>
            <pc:sldMk cId="0" sldId="268"/>
            <ac:spMk id="338" creationId="{00000000-0000-0000-0000-000000000000}"/>
          </ac:spMkLst>
        </pc:spChg>
        <pc:spChg chg="mod">
          <ac:chgData name="jhovanny merino" userId="293e63627b939b02" providerId="LiveId" clId="{13EF4B44-C2DC-4FC5-A362-2149C6341EE7}" dt="2026-03-23T12:37:06.706" v="153" actId="1076"/>
          <ac:spMkLst>
            <pc:docMk/>
            <pc:sldMk cId="0" sldId="268"/>
            <ac:spMk id="339" creationId="{00000000-0000-0000-0000-000000000000}"/>
          </ac:spMkLst>
        </pc:spChg>
        <pc:spChg chg="mod">
          <ac:chgData name="jhovanny merino" userId="293e63627b939b02" providerId="LiveId" clId="{13EF4B44-C2DC-4FC5-A362-2149C6341EE7}" dt="2026-03-23T12:37:06.706" v="153" actId="1076"/>
          <ac:spMkLst>
            <pc:docMk/>
            <pc:sldMk cId="0" sldId="268"/>
            <ac:spMk id="340" creationId="{00000000-0000-0000-0000-000000000000}"/>
          </ac:spMkLst>
        </pc:spChg>
        <pc:spChg chg="mod">
          <ac:chgData name="jhovanny merino" userId="293e63627b939b02" providerId="LiveId" clId="{13EF4B44-C2DC-4FC5-A362-2149C6341EE7}" dt="2026-03-23T12:37:06.706" v="153" actId="1076"/>
          <ac:spMkLst>
            <pc:docMk/>
            <pc:sldMk cId="0" sldId="268"/>
            <ac:spMk id="341" creationId="{00000000-0000-0000-0000-000000000000}"/>
          </ac:spMkLst>
        </pc:spChg>
        <pc:spChg chg="mod">
          <ac:chgData name="jhovanny merino" userId="293e63627b939b02" providerId="LiveId" clId="{13EF4B44-C2DC-4FC5-A362-2149C6341EE7}" dt="2026-03-23T12:36:59.515" v="151" actId="1076"/>
          <ac:spMkLst>
            <pc:docMk/>
            <pc:sldMk cId="0" sldId="268"/>
            <ac:spMk id="342" creationId="{00000000-0000-0000-0000-000000000000}"/>
          </ac:spMkLst>
        </pc:spChg>
        <pc:spChg chg="mod">
          <ac:chgData name="jhovanny merino" userId="293e63627b939b02" providerId="LiveId" clId="{13EF4B44-C2DC-4FC5-A362-2149C6341EE7}" dt="2026-03-23T12:37:06.706" v="153" actId="1076"/>
          <ac:spMkLst>
            <pc:docMk/>
            <pc:sldMk cId="0" sldId="268"/>
            <ac:spMk id="343" creationId="{00000000-0000-0000-0000-000000000000}"/>
          </ac:spMkLst>
        </pc:spChg>
        <pc:spChg chg="mod">
          <ac:chgData name="jhovanny merino" userId="293e63627b939b02" providerId="LiveId" clId="{13EF4B44-C2DC-4FC5-A362-2149C6341EE7}" dt="2026-03-23T12:37:06.706" v="153" actId="1076"/>
          <ac:spMkLst>
            <pc:docMk/>
            <pc:sldMk cId="0" sldId="268"/>
            <ac:spMk id="344" creationId="{00000000-0000-0000-0000-000000000000}"/>
          </ac:spMkLst>
        </pc:spChg>
        <pc:spChg chg="mod">
          <ac:chgData name="jhovanny merino" userId="293e63627b939b02" providerId="LiveId" clId="{13EF4B44-C2DC-4FC5-A362-2149C6341EE7}" dt="2026-03-23T12:37:06.706" v="153" actId="1076"/>
          <ac:spMkLst>
            <pc:docMk/>
            <pc:sldMk cId="0" sldId="268"/>
            <ac:spMk id="345" creationId="{00000000-0000-0000-0000-000000000000}"/>
          </ac:spMkLst>
        </pc:spChg>
        <pc:spChg chg="mod">
          <ac:chgData name="jhovanny merino" userId="293e63627b939b02" providerId="LiveId" clId="{13EF4B44-C2DC-4FC5-A362-2149C6341EE7}" dt="2026-03-23T12:37:06.706" v="153" actId="1076"/>
          <ac:spMkLst>
            <pc:docMk/>
            <pc:sldMk cId="0" sldId="268"/>
            <ac:spMk id="346" creationId="{00000000-0000-0000-0000-000000000000}"/>
          </ac:spMkLst>
        </pc:spChg>
        <pc:spChg chg="mod">
          <ac:chgData name="jhovanny merino" userId="293e63627b939b02" providerId="LiveId" clId="{13EF4B44-C2DC-4FC5-A362-2149C6341EE7}" dt="2026-03-23T12:37:06.706" v="153" actId="1076"/>
          <ac:spMkLst>
            <pc:docMk/>
            <pc:sldMk cId="0" sldId="268"/>
            <ac:spMk id="347" creationId="{00000000-0000-0000-0000-000000000000}"/>
          </ac:spMkLst>
        </pc:spChg>
        <pc:spChg chg="mod">
          <ac:chgData name="jhovanny merino" userId="293e63627b939b02" providerId="LiveId" clId="{13EF4B44-C2DC-4FC5-A362-2149C6341EE7}" dt="2026-03-23T12:37:06.706" v="153" actId="1076"/>
          <ac:spMkLst>
            <pc:docMk/>
            <pc:sldMk cId="0" sldId="268"/>
            <ac:spMk id="348" creationId="{00000000-0000-0000-0000-000000000000}"/>
          </ac:spMkLst>
        </pc:spChg>
        <pc:spChg chg="mod">
          <ac:chgData name="jhovanny merino" userId="293e63627b939b02" providerId="LiveId" clId="{13EF4B44-C2DC-4FC5-A362-2149C6341EE7}" dt="2026-03-23T12:37:01.379" v="152" actId="1076"/>
          <ac:spMkLst>
            <pc:docMk/>
            <pc:sldMk cId="0" sldId="268"/>
            <ac:spMk id="349" creationId="{00000000-0000-0000-0000-000000000000}"/>
          </ac:spMkLst>
        </pc:spChg>
        <pc:graphicFrameChg chg="modGraphic">
          <ac:chgData name="jhovanny merino" userId="293e63627b939b02" providerId="LiveId" clId="{13EF4B44-C2DC-4FC5-A362-2149C6341EE7}" dt="2026-03-23T12:36:32.994" v="149" actId="14734"/>
          <ac:graphicFrameMkLst>
            <pc:docMk/>
            <pc:sldMk cId="0" sldId="268"/>
            <ac:graphicFrameMk id="334" creationId="{00000000-0000-0000-0000-000000000000}"/>
          </ac:graphicFrameMkLst>
        </pc:graphicFrameChg>
        <pc:graphicFrameChg chg="modGraphic">
          <ac:chgData name="jhovanny merino" userId="293e63627b939b02" providerId="LiveId" clId="{13EF4B44-C2DC-4FC5-A362-2149C6341EE7}" dt="2026-03-23T12:36:43.704" v="150" actId="2165"/>
          <ac:graphicFrameMkLst>
            <pc:docMk/>
            <pc:sldMk cId="0" sldId="268"/>
            <ac:graphicFrameMk id="337" creationId="{00000000-0000-0000-0000-000000000000}"/>
          </ac:graphicFrameMkLst>
        </pc:graphicFrameChg>
      </pc:sldChg>
      <pc:sldChg chg="modSp mod">
        <pc:chgData name="jhovanny merino" userId="293e63627b939b02" providerId="LiveId" clId="{13EF4B44-C2DC-4FC5-A362-2149C6341EE7}" dt="2026-03-23T12:37:23.564" v="154" actId="2165"/>
        <pc:sldMkLst>
          <pc:docMk/>
          <pc:sldMk cId="0" sldId="269"/>
        </pc:sldMkLst>
        <pc:graphicFrameChg chg="modGraphic">
          <ac:chgData name="jhovanny merino" userId="293e63627b939b02" providerId="LiveId" clId="{13EF4B44-C2DC-4FC5-A362-2149C6341EE7}" dt="2026-03-23T12:37:23.564" v="154" actId="2165"/>
          <ac:graphicFrameMkLst>
            <pc:docMk/>
            <pc:sldMk cId="0" sldId="269"/>
            <ac:graphicFrameMk id="359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3" name="Google Shape;31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5" name="Google Shape;32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2" name="Google Shape;35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" name="Google Shape;36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8" name="Google Shape;40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3" name="Google Shape;55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57200" y="27432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GUÍA DE USO — PLANTILLA DIRECTORIO TRIMESTRAL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CMO Group  ·  Integral Consultores  /  Americana  /  Medarq  ·  Basada en estructura Nectia / Bizware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1078992"/>
            <a:ext cx="8229600" cy="45720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457200" y="1271016"/>
            <a:ext cx="237744" cy="219456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457200" y="1271016"/>
            <a:ext cx="23774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04672" y="1207008"/>
            <a:ext cx="795528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DUPLICAR este archivo y renombrarlo por empresa y período antes de editar.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1636776"/>
            <a:ext cx="237744" cy="219456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457200" y="1636776"/>
            <a:ext cx="23774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804672" y="1572768"/>
            <a:ext cx="795528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Reemplazar TODOS los textos entre  [ corchetes ]  — empresa, período, nombres de líneas de negocio y cifras.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57200" y="2002536"/>
            <a:ext cx="237744" cy="219456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457200" y="2002536"/>
            <a:ext cx="23774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804672" y="1938528"/>
            <a:ext cx="795528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Los recuadros con FONDO AZUL CLARO y borde punteado son campos a completar con datos reales del ERP S10.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57200" y="2368296"/>
            <a:ext cx="237744" cy="219456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457200" y="2368296"/>
            <a:ext cx="23774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804672" y="2304288"/>
            <a:ext cx="795528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FINANCIERO: completar con datos al cierre del trimestre (Ingreso, Costos, Margen, GAV, EBITDA).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457200" y="2734056"/>
            <a:ext cx="237744" cy="219456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457200" y="2734056"/>
            <a:ext cx="23774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804672" y="2670048"/>
            <a:ext cx="795528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GAV: detallar gastos por categoría. Comparar siempre Real vs Presupuesto y explicar desviaciones &gt; 10%.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457200" y="3099816"/>
            <a:ext cx="237744" cy="219456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457200" y="3099816"/>
            <a:ext cx="23774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804672" y="3035808"/>
            <a:ext cx="795528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PRODUCTIVIDAD: ingresar HH disponibles, vendidas y utilizadas por línea de negocio y mes.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457200" y="3465576"/>
            <a:ext cx="237744" cy="219456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457200" y="3465576"/>
            <a:ext cx="23774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804672" y="3401568"/>
            <a:ext cx="795528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CxC: actualizar aging de cuentas por cobrar al cierre. Marcar incobrables y cedidas al factoring.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457200" y="3831336"/>
            <a:ext cx="237744" cy="219456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"/>
          <p:cNvSpPr/>
          <p:nvPr/>
        </p:nvSpPr>
        <p:spPr>
          <a:xfrm>
            <a:off x="457200" y="3831336"/>
            <a:ext cx="23774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804672" y="3767328"/>
            <a:ext cx="795528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POSICIÓN DE CAJA: ingresar saldo inicial, entradas, salidas y saldo final del trimestre.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457200" y="4197096"/>
            <a:ext cx="237744" cy="219456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"/>
          <p:cNvSpPr/>
          <p:nvPr/>
        </p:nvSpPr>
        <p:spPr>
          <a:xfrm>
            <a:off x="457200" y="4197096"/>
            <a:ext cx="23774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804672" y="4133088"/>
            <a:ext cx="795528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PIPELINE: actualizar con oportunidades reales del próximo trimestre: cliente, monto, probabilidad (A/B/C).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457200" y="4562856"/>
            <a:ext cx="237744" cy="219456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"/>
          <p:cNvSpPr/>
          <p:nvPr/>
        </p:nvSpPr>
        <p:spPr>
          <a:xfrm>
            <a:off x="457200" y="4562856"/>
            <a:ext cx="23774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804672" y="4498848"/>
            <a:ext cx="795528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0E8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D0E8FF"/>
                </a:solidFill>
                <a:latin typeface="Calibri"/>
                <a:ea typeface="Calibri"/>
                <a:cs typeface="Calibri"/>
                <a:sym typeface="Calibri"/>
              </a:rPr>
              <a:t>Eliminar esta slide de instrucciones antes de presentar al directorio.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0A1A2E"/>
          </a:solidFill>
          <a:ln w="12700" cap="flat" cmpd="sng">
            <a:solidFill>
              <a:srgbClr val="0A1A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457200" y="594360"/>
            <a:ext cx="5943600" cy="91440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502920" y="594360"/>
            <a:ext cx="5852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3400"/>
              <a:buFont typeface="Calibri"/>
              <a:buNone/>
            </a:pPr>
            <a:r>
              <a:rPr lang="en-US" sz="340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NOMBRE DE LA EMPRESA ]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57200" y="1554480"/>
            <a:ext cx="3474720" cy="64008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457200" y="1691640"/>
            <a:ext cx="5303520" cy="59436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502920" y="1691640"/>
            <a:ext cx="5212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2200"/>
              <a:buFont typeface="Calibri"/>
              <a:buNone/>
            </a:pPr>
            <a:r>
              <a:rPr lang="en-US" sz="220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DIRECTORIO  [ Q_  20__ ]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457200" y="239572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Business Review  ·  [ Mes ] – [ Mes ]  [ Año ]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457200" y="28346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CMO Group  ·  </a:t>
            </a:r>
            <a:r>
              <a:rPr lang="en-US" sz="1100" b="0" i="0" u="none" strike="noStrike" cap="non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Infraestructura hospitalaria</a:t>
            </a:r>
            <a:r>
              <a:rPr lang="en-US" sz="1100" b="0" i="0" u="none" strike="noStrike" cap="non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  ·  Excelencia operativa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320040" y="4315968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Sesión Confidencial de Directorio  ·  [ Mes Año 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2137"/>
          </a:solidFill>
          <a:ln w="12700" cap="flat" cmpd="sng">
            <a:solidFill>
              <a:srgbClr val="0D21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11" y="726842"/>
            <a:ext cx="9144000" cy="50400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365760" y="0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0" y="0"/>
            <a:ext cx="88239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[ EMPRESA ]  ·  Directorio  [ Q_  20__ 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292608" y="841248"/>
            <a:ext cx="4160520" cy="640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6E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292608" y="841248"/>
            <a:ext cx="566928" cy="640080"/>
          </a:xfrm>
          <a:prstGeom prst="rect">
            <a:avLst/>
          </a:prstGeom>
          <a:solidFill>
            <a:srgbClr val="0D2137"/>
          </a:solidFill>
          <a:ln w="12700" cap="flat" cmpd="sng">
            <a:solidFill>
              <a:srgbClr val="0D21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292608" y="841248"/>
            <a:ext cx="5669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950976" y="905256"/>
            <a:ext cx="340156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Resumen Ejecutivo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950976" y="1161288"/>
            <a:ext cx="34015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P&amp;L: Ingreso, Margen, GAV, EBITDA — Q y YTD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292608" y="1545336"/>
            <a:ext cx="4160520" cy="640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6E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292608" y="1545336"/>
            <a:ext cx="566928" cy="64008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292608" y="1545336"/>
            <a:ext cx="5669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950976" y="1609344"/>
            <a:ext cx="340156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Ingreso por Línea de Negocio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50976" y="1865376"/>
            <a:ext cx="34015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Detalle mensual por LN vs presupuesto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292608" y="2249424"/>
            <a:ext cx="4160520" cy="640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6E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292608" y="2249424"/>
            <a:ext cx="566928" cy="64008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292608" y="2249424"/>
            <a:ext cx="5669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50976" y="2313432"/>
            <a:ext cx="340156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Margen Bruto por LN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950976" y="2569464"/>
            <a:ext cx="34015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Margen S/ y % por línea de negocio Q y YTD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292608" y="2953512"/>
            <a:ext cx="4160520" cy="640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6E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292608" y="2953512"/>
            <a:ext cx="566928" cy="640080"/>
          </a:xfrm>
          <a:prstGeom prst="rect">
            <a:avLst/>
          </a:prstGeom>
          <a:solidFill>
            <a:srgbClr val="1E88E5"/>
          </a:solidFill>
          <a:ln w="12700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292608" y="2953512"/>
            <a:ext cx="5669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950976" y="3017520"/>
            <a:ext cx="340156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EBITDA Q y YTD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950976" y="3273552"/>
            <a:ext cx="34015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Análisis de rentabilidad operativa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292608" y="3657600"/>
            <a:ext cx="4160520" cy="640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6E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292608" y="3657600"/>
            <a:ext cx="566928" cy="640080"/>
          </a:xfrm>
          <a:prstGeom prst="rect">
            <a:avLst/>
          </a:prstGeom>
          <a:solidFill>
            <a:srgbClr val="1E88E5"/>
          </a:solidFill>
          <a:ln w="12700" cap="flat" cmpd="sng">
            <a:solidFill>
              <a:srgbClr val="1E88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292608" y="3657600"/>
            <a:ext cx="5669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950976" y="3721608"/>
            <a:ext cx="340156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Análisis de GAV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950976" y="3977640"/>
            <a:ext cx="34015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Gastos de administración y ventas por categoría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292608" y="4361688"/>
            <a:ext cx="4160520" cy="640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6E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292608" y="4361688"/>
            <a:ext cx="566928" cy="640080"/>
          </a:xfrm>
          <a:prstGeom prst="rect">
            <a:avLst/>
          </a:prstGeom>
          <a:solidFill>
            <a:srgbClr val="00695C"/>
          </a:solidFill>
          <a:ln w="12700" cap="flat" cmpd="sng">
            <a:solidFill>
              <a:srgbClr val="0069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292608" y="4361688"/>
            <a:ext cx="5669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950976" y="4425696"/>
            <a:ext cx="340156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Análisis de Productividad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950976" y="4681728"/>
            <a:ext cx="34015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HH disponibles, vendidas y utilización %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293583" y="5080220"/>
            <a:ext cx="4160400" cy="640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6E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293583" y="5080220"/>
            <a:ext cx="567000" cy="640200"/>
          </a:xfrm>
          <a:prstGeom prst="rect">
            <a:avLst/>
          </a:prstGeom>
          <a:solidFill>
            <a:srgbClr val="00695C"/>
          </a:solidFill>
          <a:ln w="12700" cap="flat" cmpd="sng">
            <a:solidFill>
              <a:srgbClr val="0069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293583" y="5080220"/>
            <a:ext cx="567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4690872" y="825932"/>
            <a:ext cx="4160400" cy="640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6E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951951" y="5400260"/>
            <a:ext cx="34017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Aging: Vigente / 0-30 / 30-60 / 60-90 / +90 días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951951" y="5144228"/>
            <a:ext cx="3401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Cuentas x Cobrar (CxC)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4690872" y="825932"/>
            <a:ext cx="567000" cy="640200"/>
          </a:xfrm>
          <a:prstGeom prst="rect">
            <a:avLst/>
          </a:prstGeom>
          <a:solidFill>
            <a:srgbClr val="006064"/>
          </a:solidFill>
          <a:ln w="12700" cap="flat" cmpd="sng">
            <a:solidFill>
              <a:srgbClr val="00606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4690872" y="825932"/>
            <a:ext cx="567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5349240" y="889940"/>
            <a:ext cx="3401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Posición de Caja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5349240" y="1145972"/>
            <a:ext cx="34017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Flujo de entrada/salida y saldo del trimestre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4690872" y="1530020"/>
            <a:ext cx="4160400" cy="640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6E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4690872" y="1530020"/>
            <a:ext cx="567000" cy="640200"/>
          </a:xfrm>
          <a:prstGeom prst="rect">
            <a:avLst/>
          </a:prstGeom>
          <a:solidFill>
            <a:srgbClr val="006064"/>
          </a:solidFill>
          <a:ln w="12700" cap="flat" cmpd="sng">
            <a:solidFill>
              <a:srgbClr val="00606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4690872" y="1530020"/>
            <a:ext cx="567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5349240" y="1594028"/>
            <a:ext cx="3401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Backlog / Cartera de Proyectos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5349240" y="1850060"/>
            <a:ext cx="34017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Estado de proyectos activos con % de avance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4690872" y="2234108"/>
            <a:ext cx="4160400" cy="640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6E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4690872" y="2234108"/>
            <a:ext cx="567000" cy="640200"/>
          </a:xfrm>
          <a:prstGeom prst="rect">
            <a:avLst/>
          </a:prstGeom>
          <a:solidFill>
            <a:srgbClr val="2E7D32"/>
          </a:solidFill>
          <a:ln w="12700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4690872" y="2234108"/>
            <a:ext cx="567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5349240" y="2298116"/>
            <a:ext cx="3401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Pipeline y VxF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5349240" y="2554148"/>
            <a:ext cx="34017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Vendido x Facturar: oportunidades y probabilidad A/B/C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4690872" y="2938196"/>
            <a:ext cx="4160400" cy="640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6E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4690872" y="2938196"/>
            <a:ext cx="567000" cy="640200"/>
          </a:xfrm>
          <a:prstGeom prst="rect">
            <a:avLst/>
          </a:prstGeom>
          <a:solidFill>
            <a:srgbClr val="C62828"/>
          </a:solidFill>
          <a:ln w="12700" cap="flat" cmpd="sng">
            <a:solidFill>
              <a:srgbClr val="C628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4690872" y="2938196"/>
            <a:ext cx="567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5349240" y="3002204"/>
            <a:ext cx="3401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Proyección próximo trimestre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5349240" y="3258236"/>
            <a:ext cx="34017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VxF por LN: ingreso, margen y EBITDA proyectado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4690872" y="3642284"/>
            <a:ext cx="4160400" cy="640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6E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4690872" y="3642284"/>
            <a:ext cx="567000" cy="640200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4690872" y="3642284"/>
            <a:ext cx="567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5349240" y="3706292"/>
            <a:ext cx="3401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Green Flags — Logros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5349240" y="3962324"/>
            <a:ext cx="34017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Avances, logros y oportunidades del trimestre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4690872" y="4346372"/>
            <a:ext cx="4160400" cy="640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6E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4690872" y="4346372"/>
            <a:ext cx="567000" cy="640200"/>
          </a:xfrm>
          <a:prstGeom prst="rect">
            <a:avLst/>
          </a:prstGeom>
          <a:solidFill>
            <a:srgbClr val="0D2137"/>
          </a:solidFill>
          <a:ln w="12700" cap="flat" cmpd="sng">
            <a:solidFill>
              <a:srgbClr val="0D21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4690872" y="4346372"/>
            <a:ext cx="567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5349240" y="4410380"/>
            <a:ext cx="3401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Red Flags — Riesgos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5349240" y="4666412"/>
            <a:ext cx="34017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Riesgos, alertas y planes de mitigación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4690872" y="5050460"/>
            <a:ext cx="4160400" cy="640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6E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4690872" y="5050460"/>
            <a:ext cx="567000" cy="64020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4690872" y="5050460"/>
            <a:ext cx="567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5349240" y="5114468"/>
            <a:ext cx="3401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Must Win — Hitos [ Q_+1 ]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5349240" y="5370500"/>
            <a:ext cx="34017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Objetivos críticos del próximo trimestre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2137"/>
          </a:solidFill>
          <a:ln w="12700" cap="flat" cmpd="sng">
            <a:solidFill>
              <a:srgbClr val="0D21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0" y="713232"/>
            <a:ext cx="9144000" cy="50292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365760" y="0"/>
            <a:ext cx="64008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 ·  RESUMEN EJECUTIVO  [ Q_ 20__ ]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0" y="0"/>
            <a:ext cx="88239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[ EMPRESA ]  ·  Directorio  [ Q_  20__ 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3" name="Google Shape;153;p4"/>
          <p:cNvGraphicFramePr/>
          <p:nvPr/>
        </p:nvGraphicFramePr>
        <p:xfrm>
          <a:off x="320040" y="850392"/>
          <a:ext cx="5029225" cy="2432325"/>
        </p:xfrm>
        <a:graphic>
          <a:graphicData uri="http://schemas.openxmlformats.org/drawingml/2006/table">
            <a:tbl>
              <a:tblPr>
                <a:noFill/>
                <a:tableStyleId>{0F4A15BE-4165-4B45-9A00-5D40426D53E9}</a:tableStyleId>
              </a:tblPr>
              <a:tblGrid>
                <a:gridCol w="210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Estado Resultados (S/)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Q_ ] Real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Ppto [ Q_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Cumpl.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Ingreso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Costos Directos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Margen Bruto (S/)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Margen Bruto (%)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GAV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EBITDA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4" name="Google Shape;154;p4"/>
          <p:cNvGraphicFramePr/>
          <p:nvPr>
            <p:extLst>
              <p:ext uri="{D42A27DB-BD31-4B8C-83A1-F6EECF244321}">
                <p14:modId xmlns:p14="http://schemas.microsoft.com/office/powerpoint/2010/main" val="3546616191"/>
              </p:ext>
            </p:extLst>
          </p:nvPr>
        </p:nvGraphicFramePr>
        <p:xfrm>
          <a:off x="5532120" y="850392"/>
          <a:ext cx="3291825" cy="2432325"/>
        </p:xfrm>
        <a:graphic>
          <a:graphicData uri="http://schemas.openxmlformats.org/drawingml/2006/table">
            <a:tbl>
              <a:tblPr>
                <a:noFill/>
                <a:tableStyleId>{0F4A15BE-4165-4B45-9A00-5D40426D53E9}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Estado Resultados (S/)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YTD Real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YTD Ppto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Cumpl.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Ingreso</a:t>
                      </a:r>
                      <a:endParaRPr sz="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700" i="1" u="none" strike="noStrike" cap="none" dirty="0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</a:t>
                      </a:r>
                      <a:r>
                        <a:rPr lang="en-US" sz="700" i="1" u="none" strike="noStrike" cap="none" dirty="0" err="1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completar</a:t>
                      </a:r>
                      <a:r>
                        <a:rPr lang="en-US" sz="700" i="1" u="none" strike="noStrike" cap="none" dirty="0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]</a:t>
                      </a:r>
                      <a:endParaRPr sz="7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700" i="1" u="none" strike="noStrike" cap="none" dirty="0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</a:t>
                      </a:r>
                      <a:r>
                        <a:rPr lang="en-US" sz="700" i="1" u="none" strike="noStrike" cap="none" dirty="0" err="1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completar</a:t>
                      </a:r>
                      <a:r>
                        <a:rPr lang="en-US" sz="700" i="1" u="none" strike="noStrike" cap="none" dirty="0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]</a:t>
                      </a:r>
                      <a:endParaRPr sz="7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700" i="1" u="none" strike="noStrike" cap="none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Costos </a:t>
                      </a:r>
                      <a:r>
                        <a:rPr lang="en-US" sz="900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Directos</a:t>
                      </a:r>
                      <a:endParaRPr sz="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700" i="1" u="none" strike="noStrike" cap="none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700" i="1" u="none" strike="noStrike" cap="none" dirty="0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</a:t>
                      </a:r>
                      <a:r>
                        <a:rPr lang="en-US" sz="700" i="1" u="none" strike="noStrike" cap="none" dirty="0" err="1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completar</a:t>
                      </a:r>
                      <a:r>
                        <a:rPr lang="en-US" sz="700" i="1" u="none" strike="noStrike" cap="none" dirty="0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]</a:t>
                      </a:r>
                      <a:endParaRPr sz="7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700" i="1" u="none" strike="noStrike" cap="none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Margen</a:t>
                      </a:r>
                      <a:r>
                        <a:rPr lang="en-US" sz="900" b="1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Bruto (S/)</a:t>
                      </a:r>
                      <a:endParaRPr sz="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700" i="1" u="none" strike="noStrike" cap="none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700" i="1" u="none" strike="noStrike" cap="none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700" i="1" u="none" strike="noStrike" cap="none" dirty="0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</a:t>
                      </a:r>
                      <a:r>
                        <a:rPr lang="en-US" sz="700" i="1" u="none" strike="noStrike" cap="none" dirty="0" err="1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completar</a:t>
                      </a:r>
                      <a:r>
                        <a:rPr lang="en-US" sz="700" i="1" u="none" strike="noStrike" cap="none" dirty="0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]</a:t>
                      </a:r>
                      <a:endParaRPr sz="7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Margen</a:t>
                      </a:r>
                      <a:r>
                        <a:rPr lang="en-US" sz="90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Bruto (%)</a:t>
                      </a:r>
                      <a:endParaRPr sz="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700" i="1" u="none" strike="noStrike" cap="none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700" i="1" u="none" strike="noStrike" cap="none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700" i="1" u="none" strike="noStrike" cap="none" dirty="0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</a:t>
                      </a:r>
                      <a:r>
                        <a:rPr lang="en-US" sz="700" i="1" u="none" strike="noStrike" cap="none" dirty="0" err="1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completar</a:t>
                      </a:r>
                      <a:r>
                        <a:rPr lang="en-US" sz="700" i="1" u="none" strike="noStrike" cap="none" dirty="0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]</a:t>
                      </a:r>
                      <a:endParaRPr sz="7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GAV</a:t>
                      </a:r>
                      <a:endParaRPr sz="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700" i="1" u="none" strike="noStrike" cap="none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700" i="1" u="none" strike="noStrike" cap="none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700" i="1" u="none" strike="noStrike" cap="none" dirty="0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</a:t>
                      </a:r>
                      <a:r>
                        <a:rPr lang="en-US" sz="700" i="1" u="none" strike="noStrike" cap="none" dirty="0" err="1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completar</a:t>
                      </a:r>
                      <a:r>
                        <a:rPr lang="en-US" sz="700" i="1" u="none" strike="noStrike" cap="none" dirty="0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]</a:t>
                      </a:r>
                      <a:endParaRPr sz="7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700" b="1" u="none" strike="noStrike" cap="none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EBITDA</a:t>
                      </a:r>
                      <a:endParaRPr sz="7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700" i="1" u="none" strike="noStrike" cap="none" dirty="0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</a:t>
                      </a:r>
                      <a:r>
                        <a:rPr lang="en-US" sz="700" i="1" u="none" strike="noStrike" cap="none" dirty="0" err="1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completar</a:t>
                      </a:r>
                      <a:r>
                        <a:rPr lang="en-US" sz="700" i="1" u="none" strike="noStrike" cap="none" dirty="0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]</a:t>
                      </a:r>
                      <a:endParaRPr sz="7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8E6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700" i="1" u="none" strike="noStrike" cap="none" dirty="0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</a:t>
                      </a:r>
                      <a:r>
                        <a:rPr lang="en-US" sz="700" i="1" u="none" strike="noStrike" cap="none" dirty="0" err="1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completar</a:t>
                      </a:r>
                      <a:r>
                        <a:rPr lang="en-US" sz="700" i="1" u="none" strike="noStrike" cap="none" dirty="0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]</a:t>
                      </a:r>
                      <a:endParaRPr sz="7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8E6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700" i="1" u="none" strike="noStrike" cap="none" dirty="0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</a:t>
                      </a:r>
                      <a:r>
                        <a:rPr lang="en-US" sz="700" i="1" u="none" strike="noStrike" cap="none" dirty="0" err="1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completar</a:t>
                      </a:r>
                      <a:r>
                        <a:rPr lang="en-US" sz="700" i="1" u="none" strike="noStrike" cap="none" dirty="0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]</a:t>
                      </a:r>
                      <a:endParaRPr sz="7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8E6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5" name="Google Shape;155;p4"/>
          <p:cNvSpPr/>
          <p:nvPr/>
        </p:nvSpPr>
        <p:spPr>
          <a:xfrm>
            <a:off x="320040" y="3493008"/>
            <a:ext cx="8503920" cy="310896"/>
          </a:xfrm>
          <a:prstGeom prst="rect">
            <a:avLst/>
          </a:prstGeom>
          <a:solidFill>
            <a:srgbClr val="0D2137"/>
          </a:solidFill>
          <a:ln w="12700" cap="flat" cmpd="sng">
            <a:solidFill>
              <a:srgbClr val="0D21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320040" y="3493008"/>
            <a:ext cx="8503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COMENTARIOS / ANÁLISIS DE DESVIACIONES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320040" y="3858768"/>
            <a:ext cx="8503920" cy="969264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365760" y="3858768"/>
            <a:ext cx="8412480" cy="969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Completar con análisis de principales desviaciones respecto al presupuesto. Mencionar causas de bajo/alto cumplimiento por línea de negocio 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2137"/>
          </a:solidFill>
          <a:ln w="12700" cap="flat" cmpd="sng">
            <a:solidFill>
              <a:srgbClr val="0D21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0" y="713232"/>
            <a:ext cx="9144000" cy="50292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365760" y="0"/>
            <a:ext cx="64008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 ·  INGRESO POR LÍNEA DE NEGOCIO  [ Q_ 20__ ]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0" y="0"/>
            <a:ext cx="88239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[ EMPRESA ]  ·  Directorio  [ Q_  20__ 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8" name="Google Shape;168;p5"/>
          <p:cNvGraphicFramePr/>
          <p:nvPr>
            <p:extLst>
              <p:ext uri="{D42A27DB-BD31-4B8C-83A1-F6EECF244321}">
                <p14:modId xmlns:p14="http://schemas.microsoft.com/office/powerpoint/2010/main" val="3475209734"/>
              </p:ext>
            </p:extLst>
          </p:nvPr>
        </p:nvGraphicFramePr>
        <p:xfrm>
          <a:off x="320040" y="841248"/>
          <a:ext cx="8503875" cy="3383250"/>
        </p:xfrm>
        <a:graphic>
          <a:graphicData uri="http://schemas.openxmlformats.org/drawingml/2006/table">
            <a:tbl>
              <a:tblPr>
                <a:noFill/>
                <a:tableStyleId>{0F4A15BE-4165-4B45-9A00-5D40426D53E9}</a:tableStyleId>
              </a:tblPr>
              <a:tblGrid>
                <a:gridCol w="201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630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38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Línea de Negocio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Mes 1 ]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Mes 2 ]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Mes 3 ]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Q_ ] Real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Q_ ] Ppto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Cumpl. %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Delta (S/)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LN 1: nombre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LN 2: nombre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LN 3: nombre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INGRESOS</a:t>
                      </a:r>
                      <a:endParaRPr sz="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 dirty="0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</a:t>
                      </a:r>
                      <a:r>
                        <a:rPr lang="en-US" sz="900" i="1" u="none" strike="noStrike" cap="none" dirty="0" err="1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completar</a:t>
                      </a:r>
                      <a:r>
                        <a:rPr lang="en-US" sz="900" i="1" u="none" strike="noStrike" cap="none" dirty="0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]</a:t>
                      </a:r>
                      <a:endParaRPr sz="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5A6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455A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Costos [ LN 1 ]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5A6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455A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Costos [ LN 2 ]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55A6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455A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Costos [ LN 3 ]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MARGEN BRUTO (S/)</a:t>
                      </a:r>
                      <a:endParaRPr sz="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 dirty="0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</a:t>
                      </a:r>
                      <a:r>
                        <a:rPr lang="en-US" sz="900" i="1" u="none" strike="noStrike" cap="none" dirty="0" err="1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completar</a:t>
                      </a:r>
                      <a:r>
                        <a:rPr lang="en-US" sz="900" i="1" u="none" strike="noStrike" cap="none" dirty="0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]</a:t>
                      </a:r>
                      <a:endParaRPr sz="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MARGEN BRUTO (%)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 dirty="0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</a:t>
                      </a:r>
                      <a:r>
                        <a:rPr lang="en-US" sz="900" i="1" u="none" strike="noStrike" cap="none" dirty="0" err="1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completar</a:t>
                      </a:r>
                      <a:r>
                        <a:rPr lang="en-US" sz="900" i="1" u="none" strike="noStrike" cap="none" dirty="0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]</a:t>
                      </a:r>
                      <a:endParaRPr sz="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2137"/>
          </a:solidFill>
          <a:ln w="12700" cap="flat" cmpd="sng">
            <a:solidFill>
              <a:srgbClr val="0D21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0" y="713232"/>
            <a:ext cx="9144000" cy="50292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365760" y="0"/>
            <a:ext cx="64008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 ·  MARGEN BRUTO POR LÍNEA DE NEGOCIO  [ Q_ 20__ ]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0" y="0"/>
            <a:ext cx="88239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[ EMPRESA ]  ·  Directorio  [ Q_  20__ 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8" name="Google Shape;178;p6"/>
          <p:cNvGraphicFramePr/>
          <p:nvPr>
            <p:extLst>
              <p:ext uri="{D42A27DB-BD31-4B8C-83A1-F6EECF244321}">
                <p14:modId xmlns:p14="http://schemas.microsoft.com/office/powerpoint/2010/main" val="579177139"/>
              </p:ext>
            </p:extLst>
          </p:nvPr>
        </p:nvGraphicFramePr>
        <p:xfrm>
          <a:off x="320040" y="841248"/>
          <a:ext cx="8412475" cy="1389900"/>
        </p:xfrm>
        <a:graphic>
          <a:graphicData uri="http://schemas.openxmlformats.org/drawingml/2006/table">
            <a:tbl>
              <a:tblPr>
                <a:noFill/>
                <a:tableStyleId>{0F4A15BE-4165-4B45-9A00-5D40426D53E9}</a:tableStyleId>
              </a:tblPr>
              <a:tblGrid>
                <a:gridCol w="192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34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Línea de Negocio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Mes 1 ]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Mes 2 ]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Mes 3 ]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Q_ ] Real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Q_ ] Ppto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Cumpl. %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Margen %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LN 1: nombre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LN 2: nombre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LN 3: nombre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 dirty="0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</a:t>
                      </a:r>
                      <a:r>
                        <a:rPr lang="en-US" sz="900" i="1" u="none" strike="noStrike" cap="none" dirty="0" err="1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completar</a:t>
                      </a:r>
                      <a:r>
                        <a:rPr lang="en-US" sz="900" i="1" u="none" strike="noStrike" cap="none" dirty="0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]</a:t>
                      </a:r>
                      <a:endParaRPr sz="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9" name="Google Shape;179;p6"/>
          <p:cNvSpPr/>
          <p:nvPr/>
        </p:nvSpPr>
        <p:spPr>
          <a:xfrm>
            <a:off x="320040" y="2788920"/>
            <a:ext cx="8503920" cy="310896"/>
          </a:xfrm>
          <a:prstGeom prst="rect">
            <a:avLst/>
          </a:prstGeom>
          <a:solidFill>
            <a:srgbClr val="0D2137"/>
          </a:solidFill>
          <a:ln w="12700" cap="flat" cmpd="sng">
            <a:solidFill>
              <a:srgbClr val="0D21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320040" y="2788920"/>
            <a:ext cx="8503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MARGEN BRUTO YTD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1" name="Google Shape;181;p6"/>
          <p:cNvGraphicFramePr/>
          <p:nvPr>
            <p:extLst>
              <p:ext uri="{D42A27DB-BD31-4B8C-83A1-F6EECF244321}">
                <p14:modId xmlns:p14="http://schemas.microsoft.com/office/powerpoint/2010/main" val="3211651961"/>
              </p:ext>
            </p:extLst>
          </p:nvPr>
        </p:nvGraphicFramePr>
        <p:xfrm>
          <a:off x="320040" y="3154680"/>
          <a:ext cx="8321025" cy="1389900"/>
        </p:xfrm>
        <a:graphic>
          <a:graphicData uri="http://schemas.openxmlformats.org/drawingml/2006/table">
            <a:tbl>
              <a:tblPr>
                <a:noFill/>
                <a:tableStyleId>{0F4A15BE-4165-4B45-9A00-5D40426D53E9}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Línea de Negocio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YTD Real (S/)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YTD Ppto (S/)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Cumpl. %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YTD Margen %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LN 1 ]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LN 2 ]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LN 3 ]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 dirty="0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</a:t>
                      </a:r>
                      <a:r>
                        <a:rPr lang="en-US" sz="900" i="1" u="none" strike="noStrike" cap="none" dirty="0" err="1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completar</a:t>
                      </a:r>
                      <a:r>
                        <a:rPr lang="en-US" sz="900" i="1" u="none" strike="noStrike" cap="none" dirty="0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]</a:t>
                      </a:r>
                      <a:endParaRPr sz="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2137"/>
          </a:solidFill>
          <a:ln w="12700" cap="flat" cmpd="sng">
            <a:solidFill>
              <a:srgbClr val="0D21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0" y="713232"/>
            <a:ext cx="9144000" cy="50292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365760" y="0"/>
            <a:ext cx="64008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 ·  EBITDA  —  Rentabilidad Operativa  [ Q_ 20__ ]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0" y="0"/>
            <a:ext cx="88239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[ EMPRESA ]  ·  Directorio  [ Q_  20__ 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1" name="Google Shape;191;p7"/>
          <p:cNvGraphicFramePr/>
          <p:nvPr>
            <p:extLst>
              <p:ext uri="{D42A27DB-BD31-4B8C-83A1-F6EECF244321}">
                <p14:modId xmlns:p14="http://schemas.microsoft.com/office/powerpoint/2010/main" val="2668167661"/>
              </p:ext>
            </p:extLst>
          </p:nvPr>
        </p:nvGraphicFramePr>
        <p:xfrm>
          <a:off x="152089" y="841248"/>
          <a:ext cx="4695163" cy="1819685"/>
        </p:xfrm>
        <a:graphic>
          <a:graphicData uri="http://schemas.openxmlformats.org/drawingml/2006/table">
            <a:tbl>
              <a:tblPr>
                <a:noFill/>
                <a:tableStyleId>{0F4A15BE-4165-4B45-9A00-5D40426D53E9}</a:tableStyleId>
              </a:tblPr>
              <a:tblGrid>
                <a:gridCol w="1314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45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2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03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03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Línea de Negocio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Q_ ] Ingreso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Q_ ] Costos</a:t>
                      </a:r>
                      <a:endParaRPr sz="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Q_ ] Margen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Q_ ] GAV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Q_ ] EBITDA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LN 1 ]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 dirty="0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</a:t>
                      </a:r>
                      <a:r>
                        <a:rPr lang="en-US" sz="800" i="1" u="none" strike="noStrike" cap="none" dirty="0" err="1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completar</a:t>
                      </a:r>
                      <a:r>
                        <a:rPr lang="en-US" sz="800" i="1" u="none" strike="noStrike" cap="none" dirty="0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]</a:t>
                      </a:r>
                      <a:endParaRPr sz="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700" i="1" u="none" strike="noStrike" cap="none" dirty="0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</a:t>
                      </a:r>
                      <a:r>
                        <a:rPr lang="en-US" sz="700" i="1" u="none" strike="noStrike" cap="none" dirty="0" err="1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completar</a:t>
                      </a:r>
                      <a:r>
                        <a:rPr lang="en-US" sz="700" i="1" u="none" strike="noStrike" cap="none" dirty="0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]</a:t>
                      </a:r>
                      <a:endParaRPr sz="7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700" i="1" u="none" strike="noStrike" cap="none" dirty="0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</a:t>
                      </a:r>
                      <a:r>
                        <a:rPr lang="en-US" sz="700" i="1" u="none" strike="noStrike" cap="none" dirty="0" err="1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completar</a:t>
                      </a:r>
                      <a:r>
                        <a:rPr lang="en-US" sz="700" i="1" u="none" strike="noStrike" cap="none" dirty="0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]</a:t>
                      </a:r>
                      <a:endParaRPr sz="7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7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7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LN 2 ]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7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700" i="1" u="none" strike="noStrike" cap="none" dirty="0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</a:t>
                      </a:r>
                      <a:r>
                        <a:rPr lang="en-US" sz="700" i="1" u="none" strike="noStrike" cap="none" dirty="0" err="1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completar</a:t>
                      </a:r>
                      <a:r>
                        <a:rPr lang="en-US" sz="700" i="1" u="none" strike="noStrike" cap="none" dirty="0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]</a:t>
                      </a:r>
                      <a:endParaRPr sz="7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700" i="1" u="none" strike="noStrike" cap="none" dirty="0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</a:t>
                      </a:r>
                      <a:r>
                        <a:rPr lang="en-US" sz="700" i="1" u="none" strike="noStrike" cap="none" dirty="0" err="1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completar</a:t>
                      </a:r>
                      <a:r>
                        <a:rPr lang="en-US" sz="700" i="1" u="none" strike="noStrike" cap="none" dirty="0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]</a:t>
                      </a:r>
                      <a:endParaRPr sz="7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7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LN 3 ]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7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7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700" i="1" u="none" strike="noStrike" cap="none" dirty="0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</a:t>
                      </a:r>
                      <a:r>
                        <a:rPr lang="en-US" sz="700" i="1" u="none" strike="noStrike" cap="none" dirty="0" err="1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completar</a:t>
                      </a:r>
                      <a:r>
                        <a:rPr lang="en-US" sz="700" i="1" u="none" strike="noStrike" cap="none" dirty="0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]</a:t>
                      </a:r>
                      <a:endParaRPr sz="7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700" i="1" u="none" strike="noStrike" cap="none" dirty="0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</a:t>
                      </a:r>
                      <a:r>
                        <a:rPr lang="en-US" sz="700" i="1" u="none" strike="noStrike" cap="none" dirty="0" err="1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completar</a:t>
                      </a:r>
                      <a:r>
                        <a:rPr lang="en-US" sz="700" i="1" u="none" strike="noStrike" cap="none" dirty="0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]</a:t>
                      </a:r>
                      <a:endParaRPr sz="7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Q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7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7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700" b="1" i="1" u="none" strike="noStrike" cap="none" dirty="0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</a:t>
                      </a:r>
                      <a:r>
                        <a:rPr lang="en-US" sz="700" b="1" i="1" u="none" strike="noStrike" cap="none" dirty="0" err="1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completar</a:t>
                      </a:r>
                      <a:r>
                        <a:rPr lang="en-US" sz="700" b="1" i="1" u="none" strike="noStrike" cap="none" dirty="0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]</a:t>
                      </a:r>
                      <a:endParaRPr sz="7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700" b="1" i="1" u="none" strike="noStrike" cap="none" dirty="0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</a:t>
                      </a:r>
                      <a:r>
                        <a:rPr lang="en-US" sz="700" b="1" i="1" u="none" strike="noStrike" cap="none" dirty="0" err="1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completar</a:t>
                      </a:r>
                      <a:r>
                        <a:rPr lang="en-US" sz="700" b="1" i="1" u="none" strike="noStrike" cap="none" dirty="0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]</a:t>
                      </a:r>
                      <a:endParaRPr sz="7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92" name="Google Shape;192;p7"/>
          <p:cNvGraphicFramePr/>
          <p:nvPr>
            <p:extLst>
              <p:ext uri="{D42A27DB-BD31-4B8C-83A1-F6EECF244321}">
                <p14:modId xmlns:p14="http://schemas.microsoft.com/office/powerpoint/2010/main" val="4112882461"/>
              </p:ext>
            </p:extLst>
          </p:nvPr>
        </p:nvGraphicFramePr>
        <p:xfrm>
          <a:off x="4944289" y="841248"/>
          <a:ext cx="3977625" cy="1737375"/>
        </p:xfrm>
        <a:graphic>
          <a:graphicData uri="http://schemas.openxmlformats.org/drawingml/2006/table">
            <a:tbl>
              <a:tblPr>
                <a:noFill/>
                <a:tableStyleId>{0F4A15BE-4165-4B45-9A00-5D40426D53E9}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Línea de </a:t>
                      </a:r>
                      <a:r>
                        <a:rPr lang="en-US" sz="900" b="1" u="none" strike="noStrike" cap="none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Negocio</a:t>
                      </a:r>
                      <a:endParaRPr sz="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YTD Ingreso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YTD Costos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YTD EBITDA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LN 1 ]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 dirty="0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</a:t>
                      </a:r>
                      <a:r>
                        <a:rPr lang="en-US" sz="800" i="1" u="none" strike="noStrike" cap="none" dirty="0" err="1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completar</a:t>
                      </a:r>
                      <a:r>
                        <a:rPr lang="en-US" sz="800" i="1" u="none" strike="noStrike" cap="none" dirty="0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]</a:t>
                      </a:r>
                      <a:endParaRPr sz="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 dirty="0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</a:t>
                      </a:r>
                      <a:r>
                        <a:rPr lang="en-US" sz="800" i="1" u="none" strike="noStrike" cap="none" dirty="0" err="1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completar</a:t>
                      </a:r>
                      <a:r>
                        <a:rPr lang="en-US" sz="800" i="1" u="none" strike="noStrike" cap="none" dirty="0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]</a:t>
                      </a:r>
                      <a:endParaRPr sz="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LN 2 ]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 dirty="0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</a:t>
                      </a:r>
                      <a:r>
                        <a:rPr lang="en-US" sz="800" i="1" u="none" strike="noStrike" cap="none" dirty="0" err="1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completar</a:t>
                      </a:r>
                      <a:r>
                        <a:rPr lang="en-US" sz="800" i="1" u="none" strike="noStrike" cap="none" dirty="0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]</a:t>
                      </a:r>
                      <a:endParaRPr sz="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LN 3 ]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 dirty="0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</a:t>
                      </a:r>
                      <a:r>
                        <a:rPr lang="en-US" sz="800" i="1" u="none" strike="noStrike" cap="none" dirty="0" err="1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completar</a:t>
                      </a:r>
                      <a:r>
                        <a:rPr lang="en-US" sz="800" i="1" u="none" strike="noStrike" cap="none" dirty="0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]</a:t>
                      </a:r>
                      <a:endParaRPr sz="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 dirty="0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</a:t>
                      </a:r>
                      <a:r>
                        <a:rPr lang="en-US" sz="800" i="1" u="none" strike="noStrike" cap="none" dirty="0" err="1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completar</a:t>
                      </a:r>
                      <a:r>
                        <a:rPr lang="en-US" sz="800" i="1" u="none" strike="noStrike" cap="none" dirty="0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]</a:t>
                      </a:r>
                      <a:endParaRPr sz="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YTD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b="1" i="1" u="none" strike="noStrike" cap="none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8E6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b="1" i="1" u="none" strike="noStrike" cap="none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8E6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b="1" i="1" u="none" strike="noStrike" cap="none" dirty="0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</a:t>
                      </a:r>
                      <a:r>
                        <a:rPr lang="en-US" sz="800" b="1" i="1" u="none" strike="noStrike" cap="none" dirty="0" err="1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completar</a:t>
                      </a:r>
                      <a:r>
                        <a:rPr lang="en-US" sz="800" b="1" i="1" u="none" strike="noStrike" cap="none" dirty="0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]</a:t>
                      </a:r>
                      <a:endParaRPr sz="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8E6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3" name="Google Shape;193;p7"/>
          <p:cNvSpPr/>
          <p:nvPr/>
        </p:nvSpPr>
        <p:spPr>
          <a:xfrm>
            <a:off x="205273" y="3187335"/>
            <a:ext cx="8716641" cy="310896"/>
          </a:xfrm>
          <a:prstGeom prst="rect">
            <a:avLst/>
          </a:prstGeom>
          <a:solidFill>
            <a:srgbClr val="0D2137"/>
          </a:solidFill>
          <a:ln w="12700" cap="flat" cmpd="sng">
            <a:solidFill>
              <a:srgbClr val="0D21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320040" y="3154680"/>
            <a:ext cx="8503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ANÁLISIS Y COMENTARIOS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205273" y="3520440"/>
            <a:ext cx="8716641" cy="1536192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365760" y="3520440"/>
            <a:ext cx="8412480" cy="153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Completar con análisis de EBITDA por línea: explicar variaciones Q vs Ppto, tendencias YTD, y plan de acción para mejorar rentabilidad operativa 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2137"/>
          </a:solidFill>
          <a:ln w="12700" cap="flat" cmpd="sng">
            <a:solidFill>
              <a:srgbClr val="0D21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0" y="713232"/>
            <a:ext cx="9144000" cy="50292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365760" y="0"/>
            <a:ext cx="64008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  ·  ANÁLISIS DE GAV  (Gastos de Administración y Ventas)  [ Q_ 20__ ]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0" y="0"/>
            <a:ext cx="88239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[ EMPRESA ]  ·  Directorio  [ Q_  20__ 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6" name="Google Shape;206;p8"/>
          <p:cNvGraphicFramePr/>
          <p:nvPr/>
        </p:nvGraphicFramePr>
        <p:xfrm>
          <a:off x="320040" y="841248"/>
          <a:ext cx="8503900" cy="3950400"/>
        </p:xfrm>
        <a:graphic>
          <a:graphicData uri="http://schemas.openxmlformats.org/drawingml/2006/table">
            <a:tbl>
              <a:tblPr>
                <a:noFill/>
                <a:tableStyleId>{0F4A15BE-4165-4B45-9A00-5D40426D53E9}</a:tableStyleId>
              </a:tblPr>
              <a:tblGrid>
                <a:gridCol w="256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9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4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2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82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Categoría GAV (S/)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Q_ ] Real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Q_ ] Ppto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Delta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Dist.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YTD Real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YTD Ppto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Delta YTD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Equipo Comercial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Comisiones Comerciales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Remuneración GAV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 Administración y Gestión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Arriendo y Gastos Comunes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 Telefonía y Comunicaciones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Servicios Básicos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Viajes y Estadía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Representación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Marketing y Publicidad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Taxis y Traslados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Bonos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Capacitación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Otros Gastos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6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GAV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2137"/>
          </a:solidFill>
          <a:ln w="12700" cap="flat" cmpd="sng">
            <a:solidFill>
              <a:srgbClr val="0D21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0" y="713232"/>
            <a:ext cx="9144000" cy="50292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365760" y="0"/>
            <a:ext cx="64008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  ·  ANÁLISIS DE PRODUCTIVIDAD  (Horas Hombre)  [ Q_ 20__ ]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0" y="0"/>
            <a:ext cx="88239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[ EMPRESA ]  ·  Directorio  [ Q_  20__ 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1341742" y="850392"/>
            <a:ext cx="2029968" cy="12618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6E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1341742" y="850392"/>
            <a:ext cx="2029968" cy="274320"/>
          </a:xfrm>
          <a:prstGeom prst="rect">
            <a:avLst/>
          </a:prstGeom>
          <a:solidFill>
            <a:srgbClr val="0D2137"/>
          </a:solidFill>
          <a:ln w="12700" cap="flat" cmpd="sng">
            <a:solidFill>
              <a:srgbClr val="0D21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1341742" y="850392"/>
            <a:ext cx="20299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1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 LN 1: </a:t>
            </a:r>
            <a:r>
              <a:rPr lang="en-US" sz="850" b="1" i="1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</a:t>
            </a:r>
            <a:r>
              <a:rPr lang="en-US" sz="850" b="1" i="1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]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1414894" y="1188720"/>
            <a:ext cx="1883664" cy="347472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1460614" y="1188720"/>
            <a:ext cx="179222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800"/>
              <a:buFont typeface="Calibri"/>
              <a:buNone/>
            </a:pPr>
            <a:r>
              <a:rPr lang="en-US" sz="180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Utilización: [ 0.0% ]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1414894" y="1600200"/>
            <a:ext cx="1883664" cy="420624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1460614" y="1600200"/>
            <a:ext cx="17922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HH Vend: [   ]  /  HH Disp: [   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3490582" y="850392"/>
            <a:ext cx="2029968" cy="12618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6E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3490582" y="850392"/>
            <a:ext cx="2029968" cy="274320"/>
          </a:xfrm>
          <a:prstGeom prst="rect">
            <a:avLst/>
          </a:prstGeom>
          <a:solidFill>
            <a:srgbClr val="0D2137"/>
          </a:solidFill>
          <a:ln w="12700" cap="flat" cmpd="sng">
            <a:solidFill>
              <a:srgbClr val="0D21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3490582" y="850392"/>
            <a:ext cx="20299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 LN 2: nombre 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3563734" y="1188720"/>
            <a:ext cx="1883664" cy="347472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3609454" y="1188720"/>
            <a:ext cx="179222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800"/>
              <a:buFont typeface="Calibri"/>
              <a:buNone/>
            </a:pPr>
            <a:r>
              <a:rPr lang="en-US" sz="180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Utilización: [ 0.0% ]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3563734" y="1600200"/>
            <a:ext cx="1883664" cy="420624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3609454" y="1600200"/>
            <a:ext cx="17922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50"/>
              <a:buFont typeface="Calibri"/>
              <a:buNone/>
            </a:pPr>
            <a:r>
              <a:rPr lang="en-US" sz="850" b="0" i="1" u="none" strike="noStrike" cap="none" dirty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HH Vend: [   ]  /  HH </a:t>
            </a:r>
            <a:r>
              <a:rPr lang="en-US" sz="850" b="0" i="1" u="none" strike="noStrike" cap="none" dirty="0" err="1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Disp</a:t>
            </a:r>
            <a:r>
              <a:rPr lang="en-US" sz="850" b="0" i="1" u="none" strike="noStrike" cap="none" dirty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: [   ]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5639422" y="850392"/>
            <a:ext cx="2029968" cy="12618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6E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5639422" y="850392"/>
            <a:ext cx="2029968" cy="274320"/>
          </a:xfrm>
          <a:prstGeom prst="rect">
            <a:avLst/>
          </a:prstGeom>
          <a:solidFill>
            <a:srgbClr val="0D2137"/>
          </a:solidFill>
          <a:ln w="12700" cap="flat" cmpd="sng">
            <a:solidFill>
              <a:srgbClr val="0D21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5639422" y="850392"/>
            <a:ext cx="20299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 LN 3: nombre 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5712574" y="1188720"/>
            <a:ext cx="1883664" cy="347472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5758294" y="1188720"/>
            <a:ext cx="179222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800"/>
              <a:buFont typeface="Calibri"/>
              <a:buNone/>
            </a:pPr>
            <a:r>
              <a:rPr lang="en-US" sz="180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Utilización: [ 0.0% ]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5712574" y="1600200"/>
            <a:ext cx="1883664" cy="420624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5758294" y="1600200"/>
            <a:ext cx="17922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HH Vend: [   ]  /  HH Disp: [   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320040" y="2240280"/>
            <a:ext cx="8503920" cy="310896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320040" y="2240280"/>
            <a:ext cx="8503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DETALLE HH POR LÍNEA DE NEGOCIO Y MES  (Q vs Presupuesto)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6" name="Google Shape;246;p9"/>
          <p:cNvGraphicFramePr/>
          <p:nvPr>
            <p:extLst>
              <p:ext uri="{D42A27DB-BD31-4B8C-83A1-F6EECF244321}">
                <p14:modId xmlns:p14="http://schemas.microsoft.com/office/powerpoint/2010/main" val="2773979741"/>
              </p:ext>
            </p:extLst>
          </p:nvPr>
        </p:nvGraphicFramePr>
        <p:xfrm>
          <a:off x="320040" y="2606040"/>
          <a:ext cx="8503900" cy="2391195"/>
        </p:xfrm>
        <a:graphic>
          <a:graphicData uri="http://schemas.openxmlformats.org/drawingml/2006/table">
            <a:tbl>
              <a:tblPr>
                <a:noFill/>
                <a:tableStyleId>{0F4A15BE-4165-4B45-9A00-5D40426D53E9}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0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15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9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Línea de Negocio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N° Pers.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Mes 1 ] HH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Mes 2 ] HH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Mes 3 ] HH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HH Disp. Q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HH Vend. Q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HH Disp. Ppto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Utiliz. %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LN 1 ]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LN 2 ]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LN 3 ]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i="1" u="none" strike="noStrike" cap="none" dirty="0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</a:t>
                      </a:r>
                      <a:r>
                        <a:rPr lang="en-US" sz="900" b="1" i="1" u="none" strike="noStrike" cap="none" dirty="0" err="1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completar</a:t>
                      </a:r>
                      <a:r>
                        <a:rPr lang="en-US" sz="900" b="1" i="1" u="none" strike="noStrike" cap="none" dirty="0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]</a:t>
                      </a:r>
                      <a:endParaRPr sz="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2137"/>
          </a:solidFill>
          <a:ln w="12700" cap="flat" cmpd="sng">
            <a:solidFill>
              <a:srgbClr val="0D21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0" y="713232"/>
            <a:ext cx="9144000" cy="50292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365760" y="0"/>
            <a:ext cx="64008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  ·  ANÁLISIS DE CUENTAS x COBRAR  (CxC)  —  Al cierre  [ Q_ 20__ ]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0" y="0"/>
            <a:ext cx="88239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[ EMPRESA ]  ·  Directorio  [ Q_  20__ 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320040" y="850392"/>
            <a:ext cx="2048256" cy="93268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6E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320040" y="850392"/>
            <a:ext cx="2048256" cy="91440"/>
          </a:xfrm>
          <a:prstGeom prst="rect">
            <a:avLst/>
          </a:prstGeom>
          <a:solidFill>
            <a:srgbClr val="0D2137"/>
          </a:solidFill>
          <a:ln w="12700" cap="flat" cmpd="sng">
            <a:solidFill>
              <a:srgbClr val="0D21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393192" y="1005840"/>
            <a:ext cx="1901952" cy="36576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438912" y="1005840"/>
            <a:ext cx="181051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S/ 0,000,000 ]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320040" y="1417320"/>
            <a:ext cx="20482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Total CxC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2478024" y="850392"/>
            <a:ext cx="2048256" cy="93268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6E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2478024" y="850392"/>
            <a:ext cx="2048256" cy="91440"/>
          </a:xfrm>
          <a:prstGeom prst="rect">
            <a:avLst/>
          </a:prstGeom>
          <a:solidFill>
            <a:srgbClr val="2E7D32"/>
          </a:solidFill>
          <a:ln w="12700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2551176" y="1005840"/>
            <a:ext cx="1901952" cy="36576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2596896" y="1005840"/>
            <a:ext cx="181051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S/ 0,000,000 ]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2478024" y="1417320"/>
            <a:ext cx="20482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Total Vigente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4636008" y="850392"/>
            <a:ext cx="2048256" cy="93268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6E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4636008" y="850392"/>
            <a:ext cx="2048256" cy="9144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4709160" y="1005840"/>
            <a:ext cx="1901952" cy="36576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4754880" y="1005840"/>
            <a:ext cx="181051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S/ 0,000,000 ]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4636008" y="1417320"/>
            <a:ext cx="20482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Total Cedido (Factoring)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6793992" y="850392"/>
            <a:ext cx="2048256" cy="93268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6E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6793992" y="850392"/>
            <a:ext cx="2048256" cy="91440"/>
          </a:xfrm>
          <a:prstGeom prst="rect">
            <a:avLst/>
          </a:prstGeom>
          <a:solidFill>
            <a:srgbClr val="C62828"/>
          </a:solidFill>
          <a:ln w="12700" cap="flat" cmpd="sng">
            <a:solidFill>
              <a:srgbClr val="C628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6867144" y="1005840"/>
            <a:ext cx="1901952" cy="36576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6912864" y="1005840"/>
            <a:ext cx="181051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S/ 0,000,000 ]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6793992" y="1417320"/>
            <a:ext cx="20482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Total Incobrable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320040" y="1920240"/>
            <a:ext cx="8503920" cy="310896"/>
          </a:xfrm>
          <a:prstGeom prst="rect">
            <a:avLst/>
          </a:prstGeom>
          <a:solidFill>
            <a:srgbClr val="0D2137"/>
          </a:solidFill>
          <a:ln w="12700" cap="flat" cmpd="sng">
            <a:solidFill>
              <a:srgbClr val="0D21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320040" y="1920240"/>
            <a:ext cx="8503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AGING DE CARTERA POR CLIENTE  (S/)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8" name="Google Shape;278;p10"/>
          <p:cNvGraphicFramePr/>
          <p:nvPr/>
        </p:nvGraphicFramePr>
        <p:xfrm>
          <a:off x="320040" y="2286000"/>
          <a:ext cx="8503900" cy="2715750"/>
        </p:xfrm>
        <a:graphic>
          <a:graphicData uri="http://schemas.openxmlformats.org/drawingml/2006/table">
            <a:tbl>
              <a:tblPr>
                <a:noFill/>
                <a:tableStyleId>{0F4A15BE-4165-4B45-9A00-5D40426D53E9}</a:tableStyleId>
              </a:tblPr>
              <a:tblGrid>
                <a:gridCol w="192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17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Cliente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Vigente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0–30 días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30–60 días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A8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60–90 días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+90 días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Comentario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Cliente 1 ]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ok / factoring / incobrable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Cliente 2 ]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ok / factoring / incobrable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Cliente 3 ]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ok / factoring / incobrable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Cliente 4 ]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ok / factoring / incobrable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Cliente 5 ]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ok / factoring / incobrable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Cliente 6 ]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ok / factoring / incobrable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Cliente 7 ]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ok / factoring / incobrable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2137"/>
          </a:solidFill>
          <a:ln w="12700" cap="flat" cmpd="sng">
            <a:solidFill>
              <a:srgbClr val="0D21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0" y="713232"/>
            <a:ext cx="9144000" cy="50292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365760" y="0"/>
            <a:ext cx="64008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  ·  POSICIÓN DE CAJA  [ Q_ 20__ ]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0" y="0"/>
            <a:ext cx="88239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[ EMPRESA ]  ·  Directorio  [ Q_  20__ 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320040" y="850392"/>
            <a:ext cx="2048256" cy="93268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6E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320040" y="850392"/>
            <a:ext cx="2048256" cy="91440"/>
          </a:xfrm>
          <a:prstGeom prst="rect">
            <a:avLst/>
          </a:prstGeom>
          <a:solidFill>
            <a:srgbClr val="0D2137"/>
          </a:solidFill>
          <a:ln w="12700" cap="flat" cmpd="sng">
            <a:solidFill>
              <a:srgbClr val="0D21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393192" y="1005840"/>
            <a:ext cx="1901952" cy="36576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438912" y="1005840"/>
            <a:ext cx="181051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S/ 0,000,000 ]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320040" y="1417320"/>
            <a:ext cx="20482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Saldo Inicial [ Q_ 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2478024" y="850392"/>
            <a:ext cx="2048256" cy="93268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6E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2478024" y="850392"/>
            <a:ext cx="2048256" cy="91440"/>
          </a:xfrm>
          <a:prstGeom prst="rect">
            <a:avLst/>
          </a:prstGeom>
          <a:solidFill>
            <a:srgbClr val="2E7D32"/>
          </a:solidFill>
          <a:ln w="12700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"/>
          <p:cNvSpPr/>
          <p:nvPr/>
        </p:nvSpPr>
        <p:spPr>
          <a:xfrm>
            <a:off x="2551176" y="1005840"/>
            <a:ext cx="1901952" cy="36576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2596896" y="1005840"/>
            <a:ext cx="181051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S/ 0,000,000 ]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2478024" y="1417320"/>
            <a:ext cx="20482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Total Entradas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4636008" y="850392"/>
            <a:ext cx="2048256" cy="93268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6E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4636008" y="850392"/>
            <a:ext cx="2048256" cy="91440"/>
          </a:xfrm>
          <a:prstGeom prst="rect">
            <a:avLst/>
          </a:prstGeom>
          <a:solidFill>
            <a:srgbClr val="C62828"/>
          </a:solidFill>
          <a:ln w="12700" cap="flat" cmpd="sng">
            <a:solidFill>
              <a:srgbClr val="C628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4709160" y="1005840"/>
            <a:ext cx="1901952" cy="36576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4754880" y="1005840"/>
            <a:ext cx="181051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S/ 0,000,000 ]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4636008" y="1417320"/>
            <a:ext cx="20482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Total Salidas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6793992" y="850392"/>
            <a:ext cx="2048256" cy="93268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6E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6793992" y="850392"/>
            <a:ext cx="2048256" cy="9144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6867144" y="1005840"/>
            <a:ext cx="1901952" cy="36576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1"/>
          <p:cNvSpPr/>
          <p:nvPr/>
        </p:nvSpPr>
        <p:spPr>
          <a:xfrm>
            <a:off x="6912864" y="1005840"/>
            <a:ext cx="181051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S/ 0,000,000 ]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6793992" y="1417320"/>
            <a:ext cx="20482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Saldo Final [ Q_ 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320040" y="1920240"/>
            <a:ext cx="8503920" cy="310896"/>
          </a:xfrm>
          <a:prstGeom prst="rect">
            <a:avLst/>
          </a:prstGeom>
          <a:solidFill>
            <a:srgbClr val="0D2137"/>
          </a:solidFill>
          <a:ln w="12700" cap="flat" cmpd="sng">
            <a:solidFill>
              <a:srgbClr val="0D21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320040" y="1920240"/>
            <a:ext cx="8503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FLUJO DE CAJA DETALLADO POR MES  (S/)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0" name="Google Shape;310;p11"/>
          <p:cNvGraphicFramePr/>
          <p:nvPr>
            <p:extLst>
              <p:ext uri="{D42A27DB-BD31-4B8C-83A1-F6EECF244321}">
                <p14:modId xmlns:p14="http://schemas.microsoft.com/office/powerpoint/2010/main" val="4265443978"/>
              </p:ext>
            </p:extLst>
          </p:nvPr>
        </p:nvGraphicFramePr>
        <p:xfrm>
          <a:off x="320040" y="2286000"/>
          <a:ext cx="8503900" cy="2834760"/>
        </p:xfrm>
        <a:graphic>
          <a:graphicData uri="http://schemas.openxmlformats.org/drawingml/2006/table">
            <a:tbl>
              <a:tblPr>
                <a:noFill/>
                <a:tableStyleId>{0F4A15BE-4165-4B45-9A00-5D40426D53E9}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Concepto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Mes 1 ]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Mes 2 ]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Mes 3 ]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Q_ ] Total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Saldo inicial del período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ENTRADAS DE CAJA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Cobros a clientes / facturas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Anticipos y otros ingresos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Entradas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SALIDAS DE CAJA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Remuneraciones y honorarios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</a:t>
                      </a:r>
                      <a:r>
                        <a:rPr lang="en-US" sz="900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Proveedores</a:t>
                      </a:r>
                      <a:r>
                        <a:rPr lang="en-US" sz="90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n-US" sz="900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arriendo</a:t>
                      </a:r>
                      <a:r>
                        <a:rPr lang="en-US" sz="90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n-US" sz="900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servicios</a:t>
                      </a:r>
                      <a:r>
                        <a:rPr lang="en-US" sz="90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y </a:t>
                      </a:r>
                      <a:r>
                        <a:rPr lang="en-US" sz="900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otros</a:t>
                      </a:r>
                      <a:endParaRPr sz="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SUNAT / impuestos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Salidas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SALDO FINAL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i="1" u="none" strike="noStrike" cap="none" dirty="0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</a:t>
                      </a:r>
                      <a:r>
                        <a:rPr lang="en-US" sz="900" b="1" i="1" u="none" strike="noStrike" cap="none" dirty="0" err="1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completar</a:t>
                      </a:r>
                      <a:r>
                        <a:rPr lang="en-US" sz="900" b="1" i="1" u="none" strike="noStrike" cap="none" dirty="0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]</a:t>
                      </a:r>
                      <a:endParaRPr sz="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2137"/>
          </a:solidFill>
          <a:ln w="12700" cap="flat" cmpd="sng">
            <a:solidFill>
              <a:srgbClr val="0D21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2"/>
          <p:cNvSpPr/>
          <p:nvPr/>
        </p:nvSpPr>
        <p:spPr>
          <a:xfrm>
            <a:off x="0" y="713232"/>
            <a:ext cx="9144000" cy="50292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2"/>
          <p:cNvSpPr/>
          <p:nvPr/>
        </p:nvSpPr>
        <p:spPr>
          <a:xfrm>
            <a:off x="365760" y="0"/>
            <a:ext cx="64008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  ·  BACKLOG / CARTERA DE PROYECTOS  [ Q_ 20__ ]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0" y="0"/>
            <a:ext cx="88239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[ EMPRESA ]  ·  Directorio  [ Q_  20__ 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320040" y="850392"/>
            <a:ext cx="8503920" cy="420624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2"/>
          <p:cNvSpPr/>
          <p:nvPr/>
        </p:nvSpPr>
        <p:spPr>
          <a:xfrm>
            <a:off x="320040" y="850392"/>
            <a:ext cx="85039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3D9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3D9FF"/>
                </a:solidFill>
                <a:latin typeface="Calibri"/>
                <a:ea typeface="Calibri"/>
                <a:cs typeface="Calibri"/>
                <a:sym typeface="Calibri"/>
              </a:rPr>
              <a:t>CARTERA TOTAL:  </a:t>
            </a: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 S/ 0,000,000 ]</a:t>
            </a:r>
            <a:r>
              <a:rPr lang="en-US" sz="1100" b="0" i="0" u="none" strike="noStrike" cap="none">
                <a:solidFill>
                  <a:srgbClr val="B3D9FF"/>
                </a:solidFill>
                <a:latin typeface="Calibri"/>
                <a:ea typeface="Calibri"/>
                <a:cs typeface="Calibri"/>
                <a:sym typeface="Calibri"/>
              </a:rPr>
              <a:t>   ·   N° Proyectos: </a:t>
            </a:r>
            <a:r>
              <a:rPr lang="en-US" sz="1100" b="1" i="0" u="none" strike="noStrike" cap="non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[ 0 ]</a:t>
            </a:r>
            <a:r>
              <a:rPr lang="en-US" sz="1100" b="0" i="0" u="none" strike="noStrike" cap="none">
                <a:solidFill>
                  <a:srgbClr val="B3D9FF"/>
                </a:solidFill>
                <a:latin typeface="Calibri"/>
                <a:ea typeface="Calibri"/>
                <a:cs typeface="Calibri"/>
                <a:sym typeface="Calibri"/>
              </a:rPr>
              <a:t>   ·   Proyección ingreso [ Q_ ]: </a:t>
            </a: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 S/ 0.0M ]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2" name="Google Shape;322;p12"/>
          <p:cNvGraphicFramePr/>
          <p:nvPr/>
        </p:nvGraphicFramePr>
        <p:xfrm>
          <a:off x="320040" y="1353312"/>
          <a:ext cx="8503925" cy="3520500"/>
        </p:xfrm>
        <a:graphic>
          <a:graphicData uri="http://schemas.openxmlformats.org/drawingml/2006/table">
            <a:tbl>
              <a:tblPr>
                <a:noFill/>
                <a:tableStyleId>{0F4A15BE-4165-4B45-9A00-5D40426D53E9}</a:tableStyleId>
              </a:tblPr>
              <a:tblGrid>
                <a:gridCol w="256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7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2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Proyecto / Cliente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Contrato (S/)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Inicio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Término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Avance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Ing. [ Q_ ] (S/)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Estado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Proyecto 1 ]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Proyecto 2 ]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Proyecto 3 ]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Proyecto 4 ]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Proyecto 5 ]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Proyecto 6 ]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Proyecto 7 ]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Proyecto 8 ]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2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3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2137"/>
          </a:solidFill>
          <a:ln w="12700" cap="flat" cmpd="sng">
            <a:solidFill>
              <a:srgbClr val="0D21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3"/>
          <p:cNvSpPr/>
          <p:nvPr/>
        </p:nvSpPr>
        <p:spPr>
          <a:xfrm>
            <a:off x="0" y="713232"/>
            <a:ext cx="9144000" cy="50292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3"/>
          <p:cNvSpPr/>
          <p:nvPr/>
        </p:nvSpPr>
        <p:spPr>
          <a:xfrm>
            <a:off x="365760" y="0"/>
            <a:ext cx="64008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  ·  PIPELINE Y VxF  (Vendido x Facturar)  —  [ Q_+1  20__ ]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0" y="0"/>
            <a:ext cx="88239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[ EMPRESA ]  ·  Directorio  [ Q_  20__ 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320051" y="850400"/>
            <a:ext cx="5666400" cy="310800"/>
          </a:xfrm>
          <a:prstGeom prst="rect">
            <a:avLst/>
          </a:prstGeom>
          <a:solidFill>
            <a:srgbClr val="006064"/>
          </a:solidFill>
          <a:ln w="12700" cap="flat" cmpd="sng">
            <a:solidFill>
              <a:srgbClr val="00606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3"/>
          <p:cNvSpPr/>
          <p:nvPr/>
        </p:nvSpPr>
        <p:spPr>
          <a:xfrm>
            <a:off x="320051" y="834438"/>
            <a:ext cx="56664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ANÁLISIS DE PIPELINE  (oportunidades del próximo trimestre)    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4" name="Google Shape;334;p13"/>
          <p:cNvGraphicFramePr/>
          <p:nvPr>
            <p:extLst>
              <p:ext uri="{D42A27DB-BD31-4B8C-83A1-F6EECF244321}">
                <p14:modId xmlns:p14="http://schemas.microsoft.com/office/powerpoint/2010/main" val="3700963325"/>
              </p:ext>
            </p:extLst>
          </p:nvPr>
        </p:nvGraphicFramePr>
        <p:xfrm>
          <a:off x="320040" y="1216152"/>
          <a:ext cx="5666400" cy="3474750"/>
        </p:xfrm>
        <a:graphic>
          <a:graphicData uri="http://schemas.openxmlformats.org/drawingml/2006/table">
            <a:tbl>
              <a:tblPr>
                <a:noFill/>
                <a:tableStyleId>{0F4A15BE-4165-4B45-9A00-5D40426D53E9}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8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28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87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91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53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Cliente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Proyecto / Servicio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Línea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Monto (S/)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 Cierre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Prob.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0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Cliente 1 ]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A / B / C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Cliente 2 ]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A / B / C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Cliente 3 ]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A / B / C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Cliente 4 ]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A / B / C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Cliente 5 ]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A / B / C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Cliente 6 ]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A / B / C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Cliente 7 ]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A / B / C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Cliente 8 ]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A / B / C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35" name="Google Shape;335;p13"/>
          <p:cNvSpPr/>
          <p:nvPr/>
        </p:nvSpPr>
        <p:spPr>
          <a:xfrm>
            <a:off x="6109347" y="850392"/>
            <a:ext cx="3017400" cy="310800"/>
          </a:xfrm>
          <a:prstGeom prst="rect">
            <a:avLst/>
          </a:prstGeom>
          <a:solidFill>
            <a:srgbClr val="0D2137"/>
          </a:solidFill>
          <a:ln w="12700" cap="flat" cmpd="sng">
            <a:solidFill>
              <a:srgbClr val="0D21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3"/>
          <p:cNvSpPr/>
          <p:nvPr/>
        </p:nvSpPr>
        <p:spPr>
          <a:xfrm>
            <a:off x="6099881" y="850392"/>
            <a:ext cx="30174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VxF  y  WIN / LOSS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7" name="Google Shape;337;p13"/>
          <p:cNvGraphicFramePr/>
          <p:nvPr>
            <p:extLst>
              <p:ext uri="{D42A27DB-BD31-4B8C-83A1-F6EECF244321}">
                <p14:modId xmlns:p14="http://schemas.microsoft.com/office/powerpoint/2010/main" val="3857972505"/>
              </p:ext>
            </p:extLst>
          </p:nvPr>
        </p:nvGraphicFramePr>
        <p:xfrm>
          <a:off x="6099881" y="1216152"/>
          <a:ext cx="3017500" cy="1737375"/>
        </p:xfrm>
        <a:graphic>
          <a:graphicData uri="http://schemas.openxmlformats.org/drawingml/2006/table">
            <a:tbl>
              <a:tblPr>
                <a:noFill/>
                <a:tableStyleId>{0F4A15BE-4165-4B45-9A00-5D40426D53E9}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Línea / LN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6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VxF (S/)</a:t>
                      </a:r>
                      <a:endParaRPr sz="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6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Win</a:t>
                      </a:r>
                      <a:endParaRPr sz="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6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Loss</a:t>
                      </a:r>
                      <a:endParaRPr sz="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LN 1 ]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6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6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3935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600" i="1" u="none" strike="noStrike" cap="none">
                          <a:solidFill>
                            <a:srgbClr val="E539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LN 2 ]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6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6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3935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600" i="1" u="none" strike="noStrike" cap="none">
                          <a:solidFill>
                            <a:srgbClr val="E539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LN 3 ]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6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6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3935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600" i="1" u="none" strike="noStrike" cap="none">
                          <a:solidFill>
                            <a:srgbClr val="E539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8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6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6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3935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600" b="1" i="1" u="none" strike="noStrike" cap="none" dirty="0">
                          <a:solidFill>
                            <a:srgbClr val="E539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</a:t>
                      </a:r>
                      <a:r>
                        <a:rPr lang="en-US" sz="600" b="1" i="1" u="none" strike="noStrike" cap="none" dirty="0" err="1">
                          <a:solidFill>
                            <a:srgbClr val="E539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completar</a:t>
                      </a:r>
                      <a:r>
                        <a:rPr lang="en-US" sz="600" b="1" i="1" u="none" strike="noStrike" cap="none" dirty="0">
                          <a:solidFill>
                            <a:srgbClr val="E539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]</a:t>
                      </a:r>
                      <a:endParaRPr sz="6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38" name="Google Shape;338;p13"/>
          <p:cNvSpPr/>
          <p:nvPr/>
        </p:nvSpPr>
        <p:spPr>
          <a:xfrm>
            <a:off x="6109347" y="3079102"/>
            <a:ext cx="3017400" cy="1444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6E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3"/>
          <p:cNvSpPr/>
          <p:nvPr/>
        </p:nvSpPr>
        <p:spPr>
          <a:xfrm>
            <a:off x="6109347" y="3079102"/>
            <a:ext cx="3017400" cy="274200"/>
          </a:xfrm>
          <a:prstGeom prst="rect">
            <a:avLst/>
          </a:prstGeom>
          <a:solidFill>
            <a:srgbClr val="546E7A"/>
          </a:solidFill>
          <a:ln w="12700" cap="flat" cmpd="sng">
            <a:solidFill>
              <a:srgbClr val="546E7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3"/>
          <p:cNvSpPr/>
          <p:nvPr/>
        </p:nvSpPr>
        <p:spPr>
          <a:xfrm>
            <a:off x="6109347" y="3079102"/>
            <a:ext cx="3017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LEYENDA PROBABILIDAD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6246507" y="3463150"/>
            <a:ext cx="228600" cy="228600"/>
          </a:xfrm>
          <a:prstGeom prst="rect">
            <a:avLst/>
          </a:prstGeom>
          <a:solidFill>
            <a:srgbClr val="2E7D32"/>
          </a:solidFill>
          <a:ln w="12700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3"/>
          <p:cNvSpPr/>
          <p:nvPr/>
        </p:nvSpPr>
        <p:spPr>
          <a:xfrm>
            <a:off x="6246507" y="346315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6529649" y="3417430"/>
            <a:ext cx="24873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Alta probabilidad (&gt;75%). Negociación avanzada.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6246507" y="3810622"/>
            <a:ext cx="228600" cy="228600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3"/>
          <p:cNvSpPr/>
          <p:nvPr/>
        </p:nvSpPr>
        <p:spPr>
          <a:xfrm>
            <a:off x="6246507" y="3810622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6539115" y="3764902"/>
            <a:ext cx="24873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Probabilidad media (40–75%). Propuesta presentada.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6246507" y="4158094"/>
            <a:ext cx="228600" cy="228600"/>
          </a:xfrm>
          <a:prstGeom prst="rect">
            <a:avLst/>
          </a:prstGeom>
          <a:solidFill>
            <a:srgbClr val="C62828"/>
          </a:solidFill>
          <a:ln w="12700" cap="flat" cmpd="sng">
            <a:solidFill>
              <a:srgbClr val="C628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3"/>
          <p:cNvSpPr/>
          <p:nvPr/>
        </p:nvSpPr>
        <p:spPr>
          <a:xfrm>
            <a:off x="6246507" y="415809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6539115" y="4112374"/>
            <a:ext cx="24873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Probabilidad baja (&lt;40%). En prospección inicial.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4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2137"/>
          </a:solidFill>
          <a:ln w="12700" cap="flat" cmpd="sng">
            <a:solidFill>
              <a:srgbClr val="0D21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4"/>
          <p:cNvSpPr/>
          <p:nvPr/>
        </p:nvSpPr>
        <p:spPr>
          <a:xfrm>
            <a:off x="0" y="713232"/>
            <a:ext cx="9144000" cy="50292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4"/>
          <p:cNvSpPr/>
          <p:nvPr/>
        </p:nvSpPr>
        <p:spPr>
          <a:xfrm>
            <a:off x="365760" y="0"/>
            <a:ext cx="64008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  ·  PROYECCIÓN  [ Q_+1  20__ ]  —  VxF por Línea de Negocio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0" y="0"/>
            <a:ext cx="88239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[ EMPRESA ]  ·  Directorio  [ Q_  20__ 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9" name="Google Shape;359;p14"/>
          <p:cNvGraphicFramePr/>
          <p:nvPr>
            <p:extLst>
              <p:ext uri="{D42A27DB-BD31-4B8C-83A1-F6EECF244321}">
                <p14:modId xmlns:p14="http://schemas.microsoft.com/office/powerpoint/2010/main" val="1568755708"/>
              </p:ext>
            </p:extLst>
          </p:nvPr>
        </p:nvGraphicFramePr>
        <p:xfrm>
          <a:off x="320040" y="841248"/>
          <a:ext cx="8503950" cy="3561660"/>
        </p:xfrm>
        <a:graphic>
          <a:graphicData uri="http://schemas.openxmlformats.org/drawingml/2006/table">
            <a:tbl>
              <a:tblPr>
                <a:noFill/>
                <a:tableStyleId>{0F4A15BE-4165-4B45-9A00-5D40426D53E9}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8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45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2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Facturación (S/)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Mes 1 ]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Mes 2 ]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Mes 3 ]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Q_+1 ] VxF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Q_+1 ] Ppto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Cumpl. Ppto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S1+S2 Ppto [ Año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LN 1 ]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LN 2 ]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LN 3 ]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INGRESOS</a:t>
                      </a:r>
                      <a:endParaRPr sz="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i="1" u="none" strike="noStrike" cap="none" dirty="0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</a:t>
                      </a:r>
                      <a:r>
                        <a:rPr lang="en-US" sz="900" b="1" i="1" u="none" strike="noStrike" cap="none" dirty="0" err="1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completar</a:t>
                      </a:r>
                      <a:r>
                        <a:rPr lang="en-US" sz="900" b="1" i="1" u="none" strike="noStrike" cap="none" dirty="0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]</a:t>
                      </a:r>
                      <a:endParaRPr sz="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Costos Directos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Margen Bruto (S/)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Margen Bruto (%)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2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GAV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2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EBITDA PROYECTADO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i="1" u="none" strike="noStrike" cap="non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completar ]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i="1" u="none" strike="noStrike" cap="none" dirty="0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 </a:t>
                      </a:r>
                      <a:r>
                        <a:rPr lang="en-US" sz="900" b="1" i="1" u="none" strike="noStrike" cap="none" dirty="0" err="1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completar</a:t>
                      </a:r>
                      <a:r>
                        <a:rPr lang="en-US" sz="900" b="1" i="1" u="none" strike="noStrike" cap="none" dirty="0">
                          <a:solidFill>
                            <a:srgbClr val="006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]</a:t>
                      </a:r>
                      <a:endParaRPr sz="9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0D7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5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5E20"/>
          </a:solidFill>
          <a:ln w="12700" cap="flat" cmpd="sng">
            <a:solidFill>
              <a:srgbClr val="1B5E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5"/>
          <p:cNvSpPr/>
          <p:nvPr/>
        </p:nvSpPr>
        <p:spPr>
          <a:xfrm>
            <a:off x="0" y="713232"/>
            <a:ext cx="9144000" cy="50292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5"/>
          <p:cNvSpPr/>
          <p:nvPr/>
        </p:nvSpPr>
        <p:spPr>
          <a:xfrm>
            <a:off x="365760" y="0"/>
            <a:ext cx="64008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  ·  GREEN FLAGS  —  Logros y Avances  [ Q_ 20__ ]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/>
          <p:nvPr/>
        </p:nvSpPr>
        <p:spPr>
          <a:xfrm>
            <a:off x="0" y="0"/>
            <a:ext cx="88239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[ EMPRESA ]  ·  Directorio  [ Q_  20__ 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320040" y="841248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Completar con los 4–6 logros más relevantes: nuevos contratos, hitos de obra, renovaciones, logros de equipo.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320040" y="1170432"/>
            <a:ext cx="4206240" cy="120700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5"/>
          <p:cNvSpPr/>
          <p:nvPr/>
        </p:nvSpPr>
        <p:spPr>
          <a:xfrm>
            <a:off x="320040" y="1170432"/>
            <a:ext cx="109728" cy="1207008"/>
          </a:xfrm>
          <a:prstGeom prst="rect">
            <a:avLst/>
          </a:prstGeom>
          <a:solidFill>
            <a:srgbClr val="2E7D32"/>
          </a:solidFill>
          <a:ln w="12700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5"/>
          <p:cNvSpPr/>
          <p:nvPr/>
        </p:nvSpPr>
        <p:spPr>
          <a:xfrm>
            <a:off x="502920" y="1234440"/>
            <a:ext cx="3913632" cy="256032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5"/>
          <p:cNvSpPr/>
          <p:nvPr/>
        </p:nvSpPr>
        <p:spPr>
          <a:xfrm>
            <a:off x="548640" y="1234440"/>
            <a:ext cx="38221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Título Green Flag 1 ]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502920" y="1554480"/>
            <a:ext cx="3913632" cy="713232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5"/>
          <p:cNvSpPr/>
          <p:nvPr/>
        </p:nvSpPr>
        <p:spPr>
          <a:xfrm>
            <a:off x="548640" y="1554480"/>
            <a:ext cx="3822192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Descripción del logro: qué pasó, cuánto impacta, beneficio para la empresa / cliente 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4727448" y="1170432"/>
            <a:ext cx="4206240" cy="120700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5"/>
          <p:cNvSpPr/>
          <p:nvPr/>
        </p:nvSpPr>
        <p:spPr>
          <a:xfrm>
            <a:off x="4727448" y="1170432"/>
            <a:ext cx="109728" cy="1207008"/>
          </a:xfrm>
          <a:prstGeom prst="rect">
            <a:avLst/>
          </a:prstGeom>
          <a:solidFill>
            <a:srgbClr val="2E7D32"/>
          </a:solidFill>
          <a:ln w="12700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5"/>
          <p:cNvSpPr/>
          <p:nvPr/>
        </p:nvSpPr>
        <p:spPr>
          <a:xfrm>
            <a:off x="4910328" y="1234440"/>
            <a:ext cx="3913632" cy="256032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5"/>
          <p:cNvSpPr/>
          <p:nvPr/>
        </p:nvSpPr>
        <p:spPr>
          <a:xfrm>
            <a:off x="4956048" y="1234440"/>
            <a:ext cx="38221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Título Green Flag 2 ]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4910328" y="1554480"/>
            <a:ext cx="3913632" cy="713232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5"/>
          <p:cNvSpPr/>
          <p:nvPr/>
        </p:nvSpPr>
        <p:spPr>
          <a:xfrm>
            <a:off x="4956048" y="1554480"/>
            <a:ext cx="3822192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Descripción del logro: qué pasó, cuánto impacta, beneficio para la empresa / cliente 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320040" y="2468880"/>
            <a:ext cx="4206240" cy="120700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5"/>
          <p:cNvSpPr/>
          <p:nvPr/>
        </p:nvSpPr>
        <p:spPr>
          <a:xfrm>
            <a:off x="320040" y="2468880"/>
            <a:ext cx="109728" cy="1207008"/>
          </a:xfrm>
          <a:prstGeom prst="rect">
            <a:avLst/>
          </a:prstGeom>
          <a:solidFill>
            <a:srgbClr val="2E7D32"/>
          </a:solidFill>
          <a:ln w="12700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5"/>
          <p:cNvSpPr/>
          <p:nvPr/>
        </p:nvSpPr>
        <p:spPr>
          <a:xfrm>
            <a:off x="502920" y="2532888"/>
            <a:ext cx="3913632" cy="256032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5"/>
          <p:cNvSpPr/>
          <p:nvPr/>
        </p:nvSpPr>
        <p:spPr>
          <a:xfrm>
            <a:off x="548640" y="2532888"/>
            <a:ext cx="38221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Título Green Flag 3 ]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502920" y="2852928"/>
            <a:ext cx="3913632" cy="713232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5"/>
          <p:cNvSpPr/>
          <p:nvPr/>
        </p:nvSpPr>
        <p:spPr>
          <a:xfrm>
            <a:off x="548640" y="2852928"/>
            <a:ext cx="3822192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Descripción del logro: qué pasó, cuánto impacta, beneficio para la empresa / cliente 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4727448" y="2468880"/>
            <a:ext cx="4206240" cy="120700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5"/>
          <p:cNvSpPr/>
          <p:nvPr/>
        </p:nvSpPr>
        <p:spPr>
          <a:xfrm>
            <a:off x="4727448" y="2468880"/>
            <a:ext cx="109728" cy="1207008"/>
          </a:xfrm>
          <a:prstGeom prst="rect">
            <a:avLst/>
          </a:prstGeom>
          <a:solidFill>
            <a:srgbClr val="2E7D32"/>
          </a:solidFill>
          <a:ln w="12700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5"/>
          <p:cNvSpPr/>
          <p:nvPr/>
        </p:nvSpPr>
        <p:spPr>
          <a:xfrm>
            <a:off x="4910328" y="2532888"/>
            <a:ext cx="3913632" cy="256032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5"/>
          <p:cNvSpPr/>
          <p:nvPr/>
        </p:nvSpPr>
        <p:spPr>
          <a:xfrm>
            <a:off x="4956048" y="2532888"/>
            <a:ext cx="38221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Título Green Flag 4 ]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4910328" y="2852928"/>
            <a:ext cx="3913632" cy="713232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5"/>
          <p:cNvSpPr/>
          <p:nvPr/>
        </p:nvSpPr>
        <p:spPr>
          <a:xfrm>
            <a:off x="4956048" y="2852928"/>
            <a:ext cx="3822192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Descripción del logro: qué pasó, cuánto impacta, beneficio para la empresa / cliente 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320040" y="3767328"/>
            <a:ext cx="4206240" cy="120700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5"/>
          <p:cNvSpPr/>
          <p:nvPr/>
        </p:nvSpPr>
        <p:spPr>
          <a:xfrm>
            <a:off x="320040" y="3767328"/>
            <a:ext cx="109728" cy="1207008"/>
          </a:xfrm>
          <a:prstGeom prst="rect">
            <a:avLst/>
          </a:prstGeom>
          <a:solidFill>
            <a:srgbClr val="2E7D32"/>
          </a:solidFill>
          <a:ln w="12700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5"/>
          <p:cNvSpPr/>
          <p:nvPr/>
        </p:nvSpPr>
        <p:spPr>
          <a:xfrm>
            <a:off x="502920" y="3831336"/>
            <a:ext cx="3913632" cy="256032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5"/>
          <p:cNvSpPr/>
          <p:nvPr/>
        </p:nvSpPr>
        <p:spPr>
          <a:xfrm>
            <a:off x="548640" y="3831336"/>
            <a:ext cx="38221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Título Green Flag 5 ]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502920" y="4151376"/>
            <a:ext cx="3913632" cy="713232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5"/>
          <p:cNvSpPr/>
          <p:nvPr/>
        </p:nvSpPr>
        <p:spPr>
          <a:xfrm>
            <a:off x="548640" y="4151376"/>
            <a:ext cx="3822192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Descripción del logro: qué pasó, cuánto impacta, beneficio para la empresa / cliente 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4727448" y="3767328"/>
            <a:ext cx="4206240" cy="120700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5"/>
          <p:cNvSpPr/>
          <p:nvPr/>
        </p:nvSpPr>
        <p:spPr>
          <a:xfrm>
            <a:off x="4727448" y="3767328"/>
            <a:ext cx="109728" cy="1207008"/>
          </a:xfrm>
          <a:prstGeom prst="rect">
            <a:avLst/>
          </a:prstGeom>
          <a:solidFill>
            <a:srgbClr val="2E7D32"/>
          </a:solidFill>
          <a:ln w="12700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5"/>
          <p:cNvSpPr/>
          <p:nvPr/>
        </p:nvSpPr>
        <p:spPr>
          <a:xfrm>
            <a:off x="4910328" y="3831336"/>
            <a:ext cx="3913632" cy="256032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5"/>
          <p:cNvSpPr/>
          <p:nvPr/>
        </p:nvSpPr>
        <p:spPr>
          <a:xfrm>
            <a:off x="4956048" y="3831336"/>
            <a:ext cx="38221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Título Green Flag 6 ]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4910328" y="4151376"/>
            <a:ext cx="3913632" cy="713232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5"/>
          <p:cNvSpPr/>
          <p:nvPr/>
        </p:nvSpPr>
        <p:spPr>
          <a:xfrm>
            <a:off x="4956048" y="4151376"/>
            <a:ext cx="3822192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Descripción del logro: qué pasó, cuánto impacta, beneficio para la empresa / cliente 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6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C62828"/>
          </a:solidFill>
          <a:ln w="12700" cap="flat" cmpd="sng">
            <a:solidFill>
              <a:srgbClr val="C628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6"/>
          <p:cNvSpPr/>
          <p:nvPr/>
        </p:nvSpPr>
        <p:spPr>
          <a:xfrm>
            <a:off x="0" y="713232"/>
            <a:ext cx="9144000" cy="50292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6"/>
          <p:cNvSpPr/>
          <p:nvPr/>
        </p:nvSpPr>
        <p:spPr>
          <a:xfrm>
            <a:off x="365760" y="0"/>
            <a:ext cx="64008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  ·  RED FLAGS  —  Riesgos y Alertas  [ Q_ 20__ ]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0" y="0"/>
            <a:ext cx="88239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[ EMPRESA ]  ·  Directorio  [ Q_  20__ 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320040" y="841248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Completar con los 4–6 riesgos más relevantes. Incluir nivel de criticidad (CRÍTICO / ALTO / MEDIO) y acción de mitigación.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6"/>
          <p:cNvSpPr/>
          <p:nvPr/>
        </p:nvSpPr>
        <p:spPr>
          <a:xfrm>
            <a:off x="292608" y="1170432"/>
            <a:ext cx="4206240" cy="120700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CDD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6"/>
          <p:cNvSpPr/>
          <p:nvPr/>
        </p:nvSpPr>
        <p:spPr>
          <a:xfrm>
            <a:off x="292608" y="1170432"/>
            <a:ext cx="109728" cy="1207008"/>
          </a:xfrm>
          <a:prstGeom prst="rect">
            <a:avLst/>
          </a:prstGeom>
          <a:solidFill>
            <a:srgbClr val="C62828"/>
          </a:solidFill>
          <a:ln w="12700" cap="flat" cmpd="sng">
            <a:solidFill>
              <a:srgbClr val="C628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6"/>
          <p:cNvSpPr/>
          <p:nvPr/>
        </p:nvSpPr>
        <p:spPr>
          <a:xfrm>
            <a:off x="475488" y="1234440"/>
            <a:ext cx="658368" cy="201168"/>
          </a:xfrm>
          <a:prstGeom prst="rect">
            <a:avLst/>
          </a:prstGeom>
          <a:solidFill>
            <a:srgbClr val="C62828"/>
          </a:solidFill>
          <a:ln w="12700" cap="flat" cmpd="sng">
            <a:solidFill>
              <a:srgbClr val="C628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16"/>
          <p:cNvSpPr/>
          <p:nvPr/>
        </p:nvSpPr>
        <p:spPr>
          <a:xfrm>
            <a:off x="475488" y="123444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CRÍTICO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6"/>
          <p:cNvSpPr/>
          <p:nvPr/>
        </p:nvSpPr>
        <p:spPr>
          <a:xfrm>
            <a:off x="1207008" y="1234440"/>
            <a:ext cx="3182112" cy="219456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6"/>
          <p:cNvSpPr/>
          <p:nvPr/>
        </p:nvSpPr>
        <p:spPr>
          <a:xfrm>
            <a:off x="1252728" y="1234440"/>
            <a:ext cx="3090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Título Red Flag 1 ]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475488" y="1517904"/>
            <a:ext cx="3913632" cy="45720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16"/>
          <p:cNvSpPr/>
          <p:nvPr/>
        </p:nvSpPr>
        <p:spPr>
          <a:xfrm>
            <a:off x="521208" y="1517904"/>
            <a:ext cx="38221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Descripción del riesgo o alerta 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6"/>
          <p:cNvSpPr/>
          <p:nvPr/>
        </p:nvSpPr>
        <p:spPr>
          <a:xfrm>
            <a:off x="475488" y="2020824"/>
            <a:ext cx="3913632" cy="256032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16"/>
          <p:cNvSpPr/>
          <p:nvPr/>
        </p:nvSpPr>
        <p:spPr>
          <a:xfrm>
            <a:off x="521208" y="2020824"/>
            <a:ext cx="38221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→ Acción: [ plan de mitigación ]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6"/>
          <p:cNvSpPr/>
          <p:nvPr/>
        </p:nvSpPr>
        <p:spPr>
          <a:xfrm>
            <a:off x="4727448" y="1170432"/>
            <a:ext cx="4206240" cy="120700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CDD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16"/>
          <p:cNvSpPr/>
          <p:nvPr/>
        </p:nvSpPr>
        <p:spPr>
          <a:xfrm>
            <a:off x="4727448" y="1170432"/>
            <a:ext cx="109728" cy="1207008"/>
          </a:xfrm>
          <a:prstGeom prst="rect">
            <a:avLst/>
          </a:prstGeom>
          <a:solidFill>
            <a:srgbClr val="C62828"/>
          </a:solidFill>
          <a:ln w="12700" cap="flat" cmpd="sng">
            <a:solidFill>
              <a:srgbClr val="C628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6"/>
          <p:cNvSpPr/>
          <p:nvPr/>
        </p:nvSpPr>
        <p:spPr>
          <a:xfrm>
            <a:off x="4910328" y="1234440"/>
            <a:ext cx="658368" cy="201168"/>
          </a:xfrm>
          <a:prstGeom prst="rect">
            <a:avLst/>
          </a:prstGeom>
          <a:solidFill>
            <a:srgbClr val="C62828"/>
          </a:solidFill>
          <a:ln w="12700" cap="flat" cmpd="sng">
            <a:solidFill>
              <a:srgbClr val="C628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6"/>
          <p:cNvSpPr/>
          <p:nvPr/>
        </p:nvSpPr>
        <p:spPr>
          <a:xfrm>
            <a:off x="4910328" y="123444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CRÍTICO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6"/>
          <p:cNvSpPr/>
          <p:nvPr/>
        </p:nvSpPr>
        <p:spPr>
          <a:xfrm>
            <a:off x="5641848" y="1234440"/>
            <a:ext cx="3182112" cy="219456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16"/>
          <p:cNvSpPr/>
          <p:nvPr/>
        </p:nvSpPr>
        <p:spPr>
          <a:xfrm>
            <a:off x="5687568" y="1234440"/>
            <a:ext cx="3090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Título Red Flag 2 ]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6"/>
          <p:cNvSpPr/>
          <p:nvPr/>
        </p:nvSpPr>
        <p:spPr>
          <a:xfrm>
            <a:off x="4910328" y="1517904"/>
            <a:ext cx="3913632" cy="45720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16"/>
          <p:cNvSpPr/>
          <p:nvPr/>
        </p:nvSpPr>
        <p:spPr>
          <a:xfrm>
            <a:off x="4956048" y="1517904"/>
            <a:ext cx="38221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Descripción del riesgo o alerta 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6"/>
          <p:cNvSpPr/>
          <p:nvPr/>
        </p:nvSpPr>
        <p:spPr>
          <a:xfrm>
            <a:off x="4910328" y="2020824"/>
            <a:ext cx="3913632" cy="256032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16"/>
          <p:cNvSpPr/>
          <p:nvPr/>
        </p:nvSpPr>
        <p:spPr>
          <a:xfrm>
            <a:off x="4956048" y="2020824"/>
            <a:ext cx="38221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→ Acción: [ plan de mitigación ]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6"/>
          <p:cNvSpPr/>
          <p:nvPr/>
        </p:nvSpPr>
        <p:spPr>
          <a:xfrm>
            <a:off x="292608" y="2468880"/>
            <a:ext cx="4206240" cy="120700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CDD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6"/>
          <p:cNvSpPr/>
          <p:nvPr/>
        </p:nvSpPr>
        <p:spPr>
          <a:xfrm>
            <a:off x="292608" y="2468880"/>
            <a:ext cx="109728" cy="1207008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16"/>
          <p:cNvSpPr/>
          <p:nvPr/>
        </p:nvSpPr>
        <p:spPr>
          <a:xfrm>
            <a:off x="475488" y="2532888"/>
            <a:ext cx="658368" cy="201168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6"/>
          <p:cNvSpPr/>
          <p:nvPr/>
        </p:nvSpPr>
        <p:spPr>
          <a:xfrm>
            <a:off x="475488" y="2532888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ALTO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6"/>
          <p:cNvSpPr/>
          <p:nvPr/>
        </p:nvSpPr>
        <p:spPr>
          <a:xfrm>
            <a:off x="1207008" y="2532888"/>
            <a:ext cx="3182112" cy="219456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16"/>
          <p:cNvSpPr/>
          <p:nvPr/>
        </p:nvSpPr>
        <p:spPr>
          <a:xfrm>
            <a:off x="1252728" y="2532888"/>
            <a:ext cx="3090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Título Red Flag 3 ]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6"/>
          <p:cNvSpPr/>
          <p:nvPr/>
        </p:nvSpPr>
        <p:spPr>
          <a:xfrm>
            <a:off x="475488" y="2816352"/>
            <a:ext cx="3913632" cy="45720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6"/>
          <p:cNvSpPr/>
          <p:nvPr/>
        </p:nvSpPr>
        <p:spPr>
          <a:xfrm>
            <a:off x="521208" y="2816352"/>
            <a:ext cx="38221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Descripción del riesgo o alerta 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6"/>
          <p:cNvSpPr/>
          <p:nvPr/>
        </p:nvSpPr>
        <p:spPr>
          <a:xfrm>
            <a:off x="475488" y="3319272"/>
            <a:ext cx="3913632" cy="256032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6"/>
          <p:cNvSpPr/>
          <p:nvPr/>
        </p:nvSpPr>
        <p:spPr>
          <a:xfrm>
            <a:off x="521208" y="3319272"/>
            <a:ext cx="38221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→ Acción: [ plan de mitigación ]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4727448" y="2468880"/>
            <a:ext cx="4206240" cy="120700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CDD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16"/>
          <p:cNvSpPr/>
          <p:nvPr/>
        </p:nvSpPr>
        <p:spPr>
          <a:xfrm>
            <a:off x="4727448" y="2468880"/>
            <a:ext cx="109728" cy="1207008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6"/>
          <p:cNvSpPr/>
          <p:nvPr/>
        </p:nvSpPr>
        <p:spPr>
          <a:xfrm>
            <a:off x="4910328" y="2532888"/>
            <a:ext cx="658368" cy="201168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6"/>
          <p:cNvSpPr/>
          <p:nvPr/>
        </p:nvSpPr>
        <p:spPr>
          <a:xfrm>
            <a:off x="4910328" y="2532888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ALTO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5641848" y="2532888"/>
            <a:ext cx="3182112" cy="219456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16"/>
          <p:cNvSpPr/>
          <p:nvPr/>
        </p:nvSpPr>
        <p:spPr>
          <a:xfrm>
            <a:off x="5687568" y="2532888"/>
            <a:ext cx="3090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Título Red Flag 4 ]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6"/>
          <p:cNvSpPr/>
          <p:nvPr/>
        </p:nvSpPr>
        <p:spPr>
          <a:xfrm>
            <a:off x="4910328" y="2816352"/>
            <a:ext cx="3913632" cy="45720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6"/>
          <p:cNvSpPr/>
          <p:nvPr/>
        </p:nvSpPr>
        <p:spPr>
          <a:xfrm>
            <a:off x="4956048" y="2816352"/>
            <a:ext cx="38221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Descripción del riesgo o alerta 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6"/>
          <p:cNvSpPr/>
          <p:nvPr/>
        </p:nvSpPr>
        <p:spPr>
          <a:xfrm>
            <a:off x="4910328" y="3319272"/>
            <a:ext cx="3913632" cy="256032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16"/>
          <p:cNvSpPr/>
          <p:nvPr/>
        </p:nvSpPr>
        <p:spPr>
          <a:xfrm>
            <a:off x="4956048" y="3319272"/>
            <a:ext cx="38221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→ Acción: [ plan de mitigación ]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6"/>
          <p:cNvSpPr/>
          <p:nvPr/>
        </p:nvSpPr>
        <p:spPr>
          <a:xfrm>
            <a:off x="292608" y="3767328"/>
            <a:ext cx="4206240" cy="120700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CDD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6"/>
          <p:cNvSpPr/>
          <p:nvPr/>
        </p:nvSpPr>
        <p:spPr>
          <a:xfrm>
            <a:off x="292608" y="3767328"/>
            <a:ext cx="109728" cy="1207008"/>
          </a:xfrm>
          <a:prstGeom prst="rect">
            <a:avLst/>
          </a:prstGeom>
          <a:solidFill>
            <a:srgbClr val="F9A825"/>
          </a:solidFill>
          <a:ln w="12700" cap="flat" cmpd="sng">
            <a:solidFill>
              <a:srgbClr val="F9A8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6"/>
          <p:cNvSpPr/>
          <p:nvPr/>
        </p:nvSpPr>
        <p:spPr>
          <a:xfrm>
            <a:off x="475488" y="3831336"/>
            <a:ext cx="658368" cy="201168"/>
          </a:xfrm>
          <a:prstGeom prst="rect">
            <a:avLst/>
          </a:prstGeom>
          <a:solidFill>
            <a:srgbClr val="F9A825"/>
          </a:solidFill>
          <a:ln w="12700" cap="flat" cmpd="sng">
            <a:solidFill>
              <a:srgbClr val="F9A8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6"/>
          <p:cNvSpPr/>
          <p:nvPr/>
        </p:nvSpPr>
        <p:spPr>
          <a:xfrm>
            <a:off x="475488" y="3831336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MEDIO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6"/>
          <p:cNvSpPr/>
          <p:nvPr/>
        </p:nvSpPr>
        <p:spPr>
          <a:xfrm>
            <a:off x="1207008" y="3831336"/>
            <a:ext cx="3182112" cy="219456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16"/>
          <p:cNvSpPr/>
          <p:nvPr/>
        </p:nvSpPr>
        <p:spPr>
          <a:xfrm>
            <a:off x="1252728" y="3831336"/>
            <a:ext cx="3090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Título Red Flag 5 ]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6"/>
          <p:cNvSpPr/>
          <p:nvPr/>
        </p:nvSpPr>
        <p:spPr>
          <a:xfrm>
            <a:off x="475488" y="4114800"/>
            <a:ext cx="3913632" cy="45720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6"/>
          <p:cNvSpPr/>
          <p:nvPr/>
        </p:nvSpPr>
        <p:spPr>
          <a:xfrm>
            <a:off x="521208" y="4114800"/>
            <a:ext cx="38221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Descripción del riesgo o alerta 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6"/>
          <p:cNvSpPr/>
          <p:nvPr/>
        </p:nvSpPr>
        <p:spPr>
          <a:xfrm>
            <a:off x="475488" y="4617720"/>
            <a:ext cx="3913632" cy="256032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16"/>
          <p:cNvSpPr/>
          <p:nvPr/>
        </p:nvSpPr>
        <p:spPr>
          <a:xfrm>
            <a:off x="521208" y="4617720"/>
            <a:ext cx="38221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→ Acción: [ plan de mitigación ]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6"/>
          <p:cNvSpPr/>
          <p:nvPr/>
        </p:nvSpPr>
        <p:spPr>
          <a:xfrm>
            <a:off x="4727448" y="3767328"/>
            <a:ext cx="4206240" cy="120700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CDD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6"/>
          <p:cNvSpPr/>
          <p:nvPr/>
        </p:nvSpPr>
        <p:spPr>
          <a:xfrm>
            <a:off x="4727448" y="3767328"/>
            <a:ext cx="109728" cy="1207008"/>
          </a:xfrm>
          <a:prstGeom prst="rect">
            <a:avLst/>
          </a:prstGeom>
          <a:solidFill>
            <a:srgbClr val="F9A825"/>
          </a:solidFill>
          <a:ln w="12700" cap="flat" cmpd="sng">
            <a:solidFill>
              <a:srgbClr val="F9A8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16"/>
          <p:cNvSpPr/>
          <p:nvPr/>
        </p:nvSpPr>
        <p:spPr>
          <a:xfrm>
            <a:off x="4910328" y="3831336"/>
            <a:ext cx="658368" cy="201168"/>
          </a:xfrm>
          <a:prstGeom prst="rect">
            <a:avLst/>
          </a:prstGeom>
          <a:solidFill>
            <a:srgbClr val="F9A825"/>
          </a:solidFill>
          <a:ln w="12700" cap="flat" cmpd="sng">
            <a:solidFill>
              <a:srgbClr val="F9A8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6"/>
          <p:cNvSpPr/>
          <p:nvPr/>
        </p:nvSpPr>
        <p:spPr>
          <a:xfrm>
            <a:off x="4910328" y="3831336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MEDIO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6"/>
          <p:cNvSpPr/>
          <p:nvPr/>
        </p:nvSpPr>
        <p:spPr>
          <a:xfrm>
            <a:off x="5641848" y="3831336"/>
            <a:ext cx="3182112" cy="219456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16"/>
          <p:cNvSpPr/>
          <p:nvPr/>
        </p:nvSpPr>
        <p:spPr>
          <a:xfrm>
            <a:off x="5687568" y="3831336"/>
            <a:ext cx="3090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Título Red Flag 6 ]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6"/>
          <p:cNvSpPr/>
          <p:nvPr/>
        </p:nvSpPr>
        <p:spPr>
          <a:xfrm>
            <a:off x="4910328" y="4114800"/>
            <a:ext cx="3913632" cy="45720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16"/>
          <p:cNvSpPr/>
          <p:nvPr/>
        </p:nvSpPr>
        <p:spPr>
          <a:xfrm>
            <a:off x="4956048" y="4114800"/>
            <a:ext cx="38221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Descripción del riesgo o alerta 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6"/>
          <p:cNvSpPr/>
          <p:nvPr/>
        </p:nvSpPr>
        <p:spPr>
          <a:xfrm>
            <a:off x="4910328" y="4617720"/>
            <a:ext cx="3913632" cy="256032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16"/>
          <p:cNvSpPr/>
          <p:nvPr/>
        </p:nvSpPr>
        <p:spPr>
          <a:xfrm>
            <a:off x="4956048" y="4617720"/>
            <a:ext cx="38221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→ Acción: [ plan de mitigación ]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7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2137"/>
          </a:solidFill>
          <a:ln w="12700" cap="flat" cmpd="sng">
            <a:solidFill>
              <a:srgbClr val="0D21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17"/>
          <p:cNvSpPr/>
          <p:nvPr/>
        </p:nvSpPr>
        <p:spPr>
          <a:xfrm>
            <a:off x="0" y="713232"/>
            <a:ext cx="9144000" cy="50292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17"/>
          <p:cNvSpPr/>
          <p:nvPr/>
        </p:nvSpPr>
        <p:spPr>
          <a:xfrm>
            <a:off x="365760" y="0"/>
            <a:ext cx="64008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  ·  HITOS  [ Q_+1  20__ ]  —  Must Win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7"/>
          <p:cNvSpPr/>
          <p:nvPr/>
        </p:nvSpPr>
        <p:spPr>
          <a:xfrm>
            <a:off x="0" y="0"/>
            <a:ext cx="88239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[ EMPRESA ]  ·  Directorio  [ Q_  20__ 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7"/>
          <p:cNvSpPr/>
          <p:nvPr/>
        </p:nvSpPr>
        <p:spPr>
          <a:xfrm>
            <a:off x="320040" y="841248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Definir 3–5 objetivos críticos para el próximo trimestre. Asignar responsable y plazo concreto a cada uno.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7"/>
          <p:cNvSpPr/>
          <p:nvPr/>
        </p:nvSpPr>
        <p:spPr>
          <a:xfrm>
            <a:off x="320040" y="1170432"/>
            <a:ext cx="8503920" cy="70408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6E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17"/>
          <p:cNvSpPr/>
          <p:nvPr/>
        </p:nvSpPr>
        <p:spPr>
          <a:xfrm>
            <a:off x="320040" y="1170432"/>
            <a:ext cx="109728" cy="704088"/>
          </a:xfrm>
          <a:prstGeom prst="rect">
            <a:avLst/>
          </a:prstGeom>
          <a:solidFill>
            <a:srgbClr val="C62828"/>
          </a:solidFill>
          <a:ln w="12700" cap="flat" cmpd="sng">
            <a:solidFill>
              <a:srgbClr val="C628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17"/>
          <p:cNvSpPr/>
          <p:nvPr/>
        </p:nvSpPr>
        <p:spPr>
          <a:xfrm>
            <a:off x="502920" y="1243584"/>
            <a:ext cx="640080" cy="201168"/>
          </a:xfrm>
          <a:prstGeom prst="rect">
            <a:avLst/>
          </a:prstGeom>
          <a:solidFill>
            <a:srgbClr val="C62828"/>
          </a:solidFill>
          <a:ln w="12700" cap="flat" cmpd="sng">
            <a:solidFill>
              <a:srgbClr val="C628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17"/>
          <p:cNvSpPr/>
          <p:nvPr/>
        </p:nvSpPr>
        <p:spPr>
          <a:xfrm>
            <a:off x="502920" y="1243584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CRÍTICO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7"/>
          <p:cNvSpPr/>
          <p:nvPr/>
        </p:nvSpPr>
        <p:spPr>
          <a:xfrm>
            <a:off x="502920" y="1517904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MW-01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7"/>
          <p:cNvSpPr/>
          <p:nvPr/>
        </p:nvSpPr>
        <p:spPr>
          <a:xfrm>
            <a:off x="1261872" y="1234440"/>
            <a:ext cx="5486400" cy="22860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17"/>
          <p:cNvSpPr/>
          <p:nvPr/>
        </p:nvSpPr>
        <p:spPr>
          <a:xfrm>
            <a:off x="1307592" y="1234440"/>
            <a:ext cx="5394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Título del hito crítico MW-01 ]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7"/>
          <p:cNvSpPr/>
          <p:nvPr/>
        </p:nvSpPr>
        <p:spPr>
          <a:xfrm>
            <a:off x="1261872" y="1517904"/>
            <a:ext cx="5486400" cy="27432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17"/>
          <p:cNvSpPr/>
          <p:nvPr/>
        </p:nvSpPr>
        <p:spPr>
          <a:xfrm>
            <a:off x="1307592" y="1517904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Descripción y contexto del hito 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7"/>
          <p:cNvSpPr/>
          <p:nvPr/>
        </p:nvSpPr>
        <p:spPr>
          <a:xfrm>
            <a:off x="6876288" y="1234440"/>
            <a:ext cx="1828800" cy="246888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17"/>
          <p:cNvSpPr/>
          <p:nvPr/>
        </p:nvSpPr>
        <p:spPr>
          <a:xfrm>
            <a:off x="6922008" y="1234440"/>
            <a:ext cx="17373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Responsable 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7"/>
          <p:cNvSpPr/>
          <p:nvPr/>
        </p:nvSpPr>
        <p:spPr>
          <a:xfrm>
            <a:off x="6876288" y="1563624"/>
            <a:ext cx="1828800" cy="201168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17"/>
          <p:cNvSpPr/>
          <p:nvPr/>
        </p:nvSpPr>
        <p:spPr>
          <a:xfrm>
            <a:off x="6922008" y="1563624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Plazo: [ mes 20__ 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7"/>
          <p:cNvSpPr/>
          <p:nvPr/>
        </p:nvSpPr>
        <p:spPr>
          <a:xfrm>
            <a:off x="320040" y="1938528"/>
            <a:ext cx="8503920" cy="70408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6E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17"/>
          <p:cNvSpPr/>
          <p:nvPr/>
        </p:nvSpPr>
        <p:spPr>
          <a:xfrm>
            <a:off x="320040" y="1938528"/>
            <a:ext cx="109728" cy="704088"/>
          </a:xfrm>
          <a:prstGeom prst="rect">
            <a:avLst/>
          </a:prstGeom>
          <a:solidFill>
            <a:srgbClr val="C62828"/>
          </a:solidFill>
          <a:ln w="12700" cap="flat" cmpd="sng">
            <a:solidFill>
              <a:srgbClr val="C628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17"/>
          <p:cNvSpPr/>
          <p:nvPr/>
        </p:nvSpPr>
        <p:spPr>
          <a:xfrm>
            <a:off x="502920" y="2011680"/>
            <a:ext cx="640080" cy="201168"/>
          </a:xfrm>
          <a:prstGeom prst="rect">
            <a:avLst/>
          </a:prstGeom>
          <a:solidFill>
            <a:srgbClr val="C62828"/>
          </a:solidFill>
          <a:ln w="12700" cap="flat" cmpd="sng">
            <a:solidFill>
              <a:srgbClr val="C628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7"/>
          <p:cNvSpPr/>
          <p:nvPr/>
        </p:nvSpPr>
        <p:spPr>
          <a:xfrm>
            <a:off x="502920" y="2011680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CRÍTICO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7"/>
          <p:cNvSpPr/>
          <p:nvPr/>
        </p:nvSpPr>
        <p:spPr>
          <a:xfrm>
            <a:off x="502920" y="2286000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MW-02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7"/>
          <p:cNvSpPr/>
          <p:nvPr/>
        </p:nvSpPr>
        <p:spPr>
          <a:xfrm>
            <a:off x="1261872" y="2002536"/>
            <a:ext cx="5486400" cy="22860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17"/>
          <p:cNvSpPr/>
          <p:nvPr/>
        </p:nvSpPr>
        <p:spPr>
          <a:xfrm>
            <a:off x="1307592" y="2002536"/>
            <a:ext cx="5394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Título del hito crítico MW-02 ]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7"/>
          <p:cNvSpPr/>
          <p:nvPr/>
        </p:nvSpPr>
        <p:spPr>
          <a:xfrm>
            <a:off x="1261872" y="2286000"/>
            <a:ext cx="5486400" cy="27432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17"/>
          <p:cNvSpPr/>
          <p:nvPr/>
        </p:nvSpPr>
        <p:spPr>
          <a:xfrm>
            <a:off x="1307592" y="228600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Descripción y contexto del hito 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7"/>
          <p:cNvSpPr/>
          <p:nvPr/>
        </p:nvSpPr>
        <p:spPr>
          <a:xfrm>
            <a:off x="6876288" y="2002536"/>
            <a:ext cx="1828800" cy="246888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17"/>
          <p:cNvSpPr/>
          <p:nvPr/>
        </p:nvSpPr>
        <p:spPr>
          <a:xfrm>
            <a:off x="6922008" y="2002536"/>
            <a:ext cx="17373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Responsable 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7"/>
          <p:cNvSpPr/>
          <p:nvPr/>
        </p:nvSpPr>
        <p:spPr>
          <a:xfrm>
            <a:off x="6876288" y="2331720"/>
            <a:ext cx="1828800" cy="201168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17"/>
          <p:cNvSpPr/>
          <p:nvPr/>
        </p:nvSpPr>
        <p:spPr>
          <a:xfrm>
            <a:off x="6922008" y="2331720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Plazo: [ mes 20__ 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7"/>
          <p:cNvSpPr/>
          <p:nvPr/>
        </p:nvSpPr>
        <p:spPr>
          <a:xfrm>
            <a:off x="320040" y="2706624"/>
            <a:ext cx="8503920" cy="70408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6E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17"/>
          <p:cNvSpPr/>
          <p:nvPr/>
        </p:nvSpPr>
        <p:spPr>
          <a:xfrm>
            <a:off x="320040" y="2706624"/>
            <a:ext cx="109728" cy="704088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17"/>
          <p:cNvSpPr/>
          <p:nvPr/>
        </p:nvSpPr>
        <p:spPr>
          <a:xfrm>
            <a:off x="502920" y="2779776"/>
            <a:ext cx="640080" cy="201168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17"/>
          <p:cNvSpPr/>
          <p:nvPr/>
        </p:nvSpPr>
        <p:spPr>
          <a:xfrm>
            <a:off x="502920" y="2779776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ALTO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7"/>
          <p:cNvSpPr/>
          <p:nvPr/>
        </p:nvSpPr>
        <p:spPr>
          <a:xfrm>
            <a:off x="502920" y="3054096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MW-03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7"/>
          <p:cNvSpPr/>
          <p:nvPr/>
        </p:nvSpPr>
        <p:spPr>
          <a:xfrm>
            <a:off x="1261872" y="2770632"/>
            <a:ext cx="5486400" cy="22860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17"/>
          <p:cNvSpPr/>
          <p:nvPr/>
        </p:nvSpPr>
        <p:spPr>
          <a:xfrm>
            <a:off x="1307592" y="2770632"/>
            <a:ext cx="5394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Título del hito crítico MW-03 ]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7"/>
          <p:cNvSpPr/>
          <p:nvPr/>
        </p:nvSpPr>
        <p:spPr>
          <a:xfrm>
            <a:off x="1261872" y="3054096"/>
            <a:ext cx="5486400" cy="27432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17"/>
          <p:cNvSpPr/>
          <p:nvPr/>
        </p:nvSpPr>
        <p:spPr>
          <a:xfrm>
            <a:off x="1307592" y="3054096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Descripción y contexto del hito 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7"/>
          <p:cNvSpPr/>
          <p:nvPr/>
        </p:nvSpPr>
        <p:spPr>
          <a:xfrm>
            <a:off x="6876288" y="2770632"/>
            <a:ext cx="1828800" cy="246888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17"/>
          <p:cNvSpPr/>
          <p:nvPr/>
        </p:nvSpPr>
        <p:spPr>
          <a:xfrm>
            <a:off x="6922008" y="2770632"/>
            <a:ext cx="17373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Responsable 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7"/>
          <p:cNvSpPr/>
          <p:nvPr/>
        </p:nvSpPr>
        <p:spPr>
          <a:xfrm>
            <a:off x="6876288" y="3099816"/>
            <a:ext cx="1828800" cy="201168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17"/>
          <p:cNvSpPr/>
          <p:nvPr/>
        </p:nvSpPr>
        <p:spPr>
          <a:xfrm>
            <a:off x="6922008" y="3099816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Plazo: [ mes 20__ 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7"/>
          <p:cNvSpPr/>
          <p:nvPr/>
        </p:nvSpPr>
        <p:spPr>
          <a:xfrm>
            <a:off x="320040" y="3474720"/>
            <a:ext cx="8503920" cy="70408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6E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17"/>
          <p:cNvSpPr/>
          <p:nvPr/>
        </p:nvSpPr>
        <p:spPr>
          <a:xfrm>
            <a:off x="320040" y="3474720"/>
            <a:ext cx="109728" cy="704088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17"/>
          <p:cNvSpPr/>
          <p:nvPr/>
        </p:nvSpPr>
        <p:spPr>
          <a:xfrm>
            <a:off x="502920" y="3547872"/>
            <a:ext cx="640080" cy="201168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17"/>
          <p:cNvSpPr/>
          <p:nvPr/>
        </p:nvSpPr>
        <p:spPr>
          <a:xfrm>
            <a:off x="502920" y="3547872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ALTO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7"/>
          <p:cNvSpPr/>
          <p:nvPr/>
        </p:nvSpPr>
        <p:spPr>
          <a:xfrm>
            <a:off x="502920" y="3822192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MW-04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7"/>
          <p:cNvSpPr/>
          <p:nvPr/>
        </p:nvSpPr>
        <p:spPr>
          <a:xfrm>
            <a:off x="1261872" y="3538728"/>
            <a:ext cx="5486400" cy="22860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17"/>
          <p:cNvSpPr/>
          <p:nvPr/>
        </p:nvSpPr>
        <p:spPr>
          <a:xfrm>
            <a:off x="1307592" y="3538728"/>
            <a:ext cx="5394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Título del hito crítico MW-04 ]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7"/>
          <p:cNvSpPr/>
          <p:nvPr/>
        </p:nvSpPr>
        <p:spPr>
          <a:xfrm>
            <a:off x="1261872" y="3822192"/>
            <a:ext cx="5486400" cy="27432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17"/>
          <p:cNvSpPr/>
          <p:nvPr/>
        </p:nvSpPr>
        <p:spPr>
          <a:xfrm>
            <a:off x="1307592" y="3822192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Descripción y contexto del hito 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7"/>
          <p:cNvSpPr/>
          <p:nvPr/>
        </p:nvSpPr>
        <p:spPr>
          <a:xfrm>
            <a:off x="6876288" y="3538728"/>
            <a:ext cx="1828800" cy="246888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17"/>
          <p:cNvSpPr/>
          <p:nvPr/>
        </p:nvSpPr>
        <p:spPr>
          <a:xfrm>
            <a:off x="6922008" y="3538728"/>
            <a:ext cx="17373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Responsable 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7"/>
          <p:cNvSpPr/>
          <p:nvPr/>
        </p:nvSpPr>
        <p:spPr>
          <a:xfrm>
            <a:off x="6876288" y="3867912"/>
            <a:ext cx="1828800" cy="201168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17"/>
          <p:cNvSpPr/>
          <p:nvPr/>
        </p:nvSpPr>
        <p:spPr>
          <a:xfrm>
            <a:off x="6922008" y="3867912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Plazo: [ mes 20__ 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7"/>
          <p:cNvSpPr/>
          <p:nvPr/>
        </p:nvSpPr>
        <p:spPr>
          <a:xfrm>
            <a:off x="320040" y="4242816"/>
            <a:ext cx="8503920" cy="70408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6E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17"/>
          <p:cNvSpPr/>
          <p:nvPr/>
        </p:nvSpPr>
        <p:spPr>
          <a:xfrm>
            <a:off x="320040" y="4242816"/>
            <a:ext cx="109728" cy="704088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17"/>
          <p:cNvSpPr/>
          <p:nvPr/>
        </p:nvSpPr>
        <p:spPr>
          <a:xfrm>
            <a:off x="502920" y="4315968"/>
            <a:ext cx="640080" cy="201168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17"/>
          <p:cNvSpPr/>
          <p:nvPr/>
        </p:nvSpPr>
        <p:spPr>
          <a:xfrm>
            <a:off x="502920" y="431596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MEDIO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7"/>
          <p:cNvSpPr/>
          <p:nvPr/>
        </p:nvSpPr>
        <p:spPr>
          <a:xfrm>
            <a:off x="502920" y="459028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MW-05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7"/>
          <p:cNvSpPr/>
          <p:nvPr/>
        </p:nvSpPr>
        <p:spPr>
          <a:xfrm>
            <a:off x="1261872" y="4306824"/>
            <a:ext cx="5486400" cy="22860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17"/>
          <p:cNvSpPr/>
          <p:nvPr/>
        </p:nvSpPr>
        <p:spPr>
          <a:xfrm>
            <a:off x="1307592" y="4306824"/>
            <a:ext cx="5394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Título del hito crítico MW-05 ]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7"/>
          <p:cNvSpPr/>
          <p:nvPr/>
        </p:nvSpPr>
        <p:spPr>
          <a:xfrm>
            <a:off x="1261872" y="4590288"/>
            <a:ext cx="5486400" cy="27432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17"/>
          <p:cNvSpPr/>
          <p:nvPr/>
        </p:nvSpPr>
        <p:spPr>
          <a:xfrm>
            <a:off x="1307592" y="4590288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Descripción y contexto del hito 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7"/>
          <p:cNvSpPr/>
          <p:nvPr/>
        </p:nvSpPr>
        <p:spPr>
          <a:xfrm>
            <a:off x="6876288" y="4306824"/>
            <a:ext cx="1828800" cy="246888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17"/>
          <p:cNvSpPr/>
          <p:nvPr/>
        </p:nvSpPr>
        <p:spPr>
          <a:xfrm>
            <a:off x="6922008" y="4306824"/>
            <a:ext cx="17373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Responsable 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7"/>
          <p:cNvSpPr/>
          <p:nvPr/>
        </p:nvSpPr>
        <p:spPr>
          <a:xfrm>
            <a:off x="6876288" y="4636008"/>
            <a:ext cx="1828800" cy="201168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17"/>
          <p:cNvSpPr/>
          <p:nvPr/>
        </p:nvSpPr>
        <p:spPr>
          <a:xfrm>
            <a:off x="6922008" y="4636008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Plazo: [ mes 20__ ]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18"/>
          <p:cNvSpPr/>
          <p:nvPr/>
        </p:nvSpPr>
        <p:spPr>
          <a:xfrm>
            <a:off x="0" y="4041648"/>
            <a:ext cx="9144000" cy="1097280"/>
          </a:xfrm>
          <a:prstGeom prst="rect">
            <a:avLst/>
          </a:prstGeom>
          <a:solidFill>
            <a:srgbClr val="0A1A2E"/>
          </a:solidFill>
          <a:ln w="12700" cap="flat" cmpd="sng">
            <a:solidFill>
              <a:srgbClr val="0A1A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18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PRÓXIMOS PASOS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8"/>
          <p:cNvSpPr/>
          <p:nvPr/>
        </p:nvSpPr>
        <p:spPr>
          <a:xfrm>
            <a:off x="457200" y="841250"/>
            <a:ext cx="7072200" cy="71310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18"/>
          <p:cNvSpPr/>
          <p:nvPr/>
        </p:nvSpPr>
        <p:spPr>
          <a:xfrm>
            <a:off x="502926" y="841250"/>
            <a:ext cx="7026600" cy="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2800"/>
              <a:buFont typeface="Calibri"/>
              <a:buNone/>
            </a:pPr>
            <a:r>
              <a:rPr lang="en-US" sz="280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ACUERDOS DE DIRECTORIO  [ Q_ 20__ ]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8"/>
          <p:cNvSpPr/>
          <p:nvPr/>
        </p:nvSpPr>
        <p:spPr>
          <a:xfrm>
            <a:off x="457200" y="1600200"/>
            <a:ext cx="3474720" cy="54864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18"/>
          <p:cNvSpPr/>
          <p:nvPr/>
        </p:nvSpPr>
        <p:spPr>
          <a:xfrm>
            <a:off x="457200" y="1865376"/>
            <a:ext cx="137160" cy="137160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18"/>
          <p:cNvSpPr/>
          <p:nvPr/>
        </p:nvSpPr>
        <p:spPr>
          <a:xfrm>
            <a:off x="713232" y="1810512"/>
            <a:ext cx="7955280" cy="27432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18"/>
          <p:cNvSpPr/>
          <p:nvPr/>
        </p:nvSpPr>
        <p:spPr>
          <a:xfrm>
            <a:off x="758952" y="1810512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Acuerdo 1: compromiso concreto que asume el directorio ]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8"/>
          <p:cNvSpPr/>
          <p:nvPr/>
        </p:nvSpPr>
        <p:spPr>
          <a:xfrm>
            <a:off x="457200" y="2286000"/>
            <a:ext cx="137160" cy="137160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18"/>
          <p:cNvSpPr/>
          <p:nvPr/>
        </p:nvSpPr>
        <p:spPr>
          <a:xfrm>
            <a:off x="713232" y="2231136"/>
            <a:ext cx="7955280" cy="27432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18"/>
          <p:cNvSpPr/>
          <p:nvPr/>
        </p:nvSpPr>
        <p:spPr>
          <a:xfrm>
            <a:off x="758952" y="2231136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Acuerdo 2: compromiso concreto que asume el directorio ]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8"/>
          <p:cNvSpPr/>
          <p:nvPr/>
        </p:nvSpPr>
        <p:spPr>
          <a:xfrm>
            <a:off x="457200" y="2706624"/>
            <a:ext cx="137160" cy="137160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18"/>
          <p:cNvSpPr/>
          <p:nvPr/>
        </p:nvSpPr>
        <p:spPr>
          <a:xfrm>
            <a:off x="713232" y="2651760"/>
            <a:ext cx="7955280" cy="27432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18"/>
          <p:cNvSpPr/>
          <p:nvPr/>
        </p:nvSpPr>
        <p:spPr>
          <a:xfrm>
            <a:off x="758952" y="265176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Acuerdo 3: compromiso concreto que asume el directorio ]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8"/>
          <p:cNvSpPr/>
          <p:nvPr/>
        </p:nvSpPr>
        <p:spPr>
          <a:xfrm>
            <a:off x="457200" y="3127248"/>
            <a:ext cx="137160" cy="137160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18"/>
          <p:cNvSpPr/>
          <p:nvPr/>
        </p:nvSpPr>
        <p:spPr>
          <a:xfrm>
            <a:off x="713232" y="3072384"/>
            <a:ext cx="7955280" cy="27432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18"/>
          <p:cNvSpPr/>
          <p:nvPr/>
        </p:nvSpPr>
        <p:spPr>
          <a:xfrm>
            <a:off x="758952" y="3072384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Acuerdo 4: compromiso concreto que asume el directorio ]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8"/>
          <p:cNvSpPr/>
          <p:nvPr/>
        </p:nvSpPr>
        <p:spPr>
          <a:xfrm>
            <a:off x="457200" y="3547872"/>
            <a:ext cx="137160" cy="137160"/>
          </a:xfrm>
          <a:prstGeom prst="rect">
            <a:avLst/>
          </a:prstGeom>
          <a:solidFill>
            <a:srgbClr val="E6510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18"/>
          <p:cNvSpPr/>
          <p:nvPr/>
        </p:nvSpPr>
        <p:spPr>
          <a:xfrm>
            <a:off x="713232" y="3493008"/>
            <a:ext cx="7955280" cy="27432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2196F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18"/>
          <p:cNvSpPr/>
          <p:nvPr/>
        </p:nvSpPr>
        <p:spPr>
          <a:xfrm>
            <a:off x="758952" y="3493008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 Acuerdo 5: compromiso concreto que asume el directorio ]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8"/>
          <p:cNvSpPr/>
          <p:nvPr/>
        </p:nvSpPr>
        <p:spPr>
          <a:xfrm>
            <a:off x="320040" y="4206240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Sesión Confidencial de Directorio  ·  [ EMPRESA ]  ·  CMO Group  ·  [ Q_ 20__ 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4033</Words>
  <Application>Microsoft Office PowerPoint</Application>
  <PresentationFormat>Presentación en pantalla (16:9)</PresentationFormat>
  <Paragraphs>972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jhovanny merino</cp:lastModifiedBy>
  <cp:revision>1</cp:revision>
  <dcterms:created xsi:type="dcterms:W3CDTF">2026-03-23T12:07:28Z</dcterms:created>
  <dcterms:modified xsi:type="dcterms:W3CDTF">2026-03-23T12:38:16Z</dcterms:modified>
</cp:coreProperties>
</file>