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130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vanny merino" userId="293e63627b939b02" providerId="LiveId" clId="{13EF4B44-C2DC-4FC5-A362-2149C6341EE7}"/>
    <pc:docChg chg="modSld">
      <pc:chgData name="jhovanny merino" userId="293e63627b939b02" providerId="LiveId" clId="{13EF4B44-C2DC-4FC5-A362-2149C6341EE7}" dt="2026-05-14T12:31:43.704" v="146" actId="20577"/>
      <pc:docMkLst>
        <pc:docMk/>
      </pc:docMkLst>
      <pc:sldChg chg="modSp mod">
        <pc:chgData name="jhovanny merino" userId="293e63627b939b02" providerId="LiveId" clId="{13EF4B44-C2DC-4FC5-A362-2149C6341EE7}" dt="2026-05-14T12:12:40.606" v="32" actId="20577"/>
        <pc:sldMkLst>
          <pc:docMk/>
          <pc:sldMk cId="0" sldId="256"/>
        </pc:sldMkLst>
        <pc:spChg chg="mod">
          <ac:chgData name="jhovanny merino" userId="293e63627b939b02" providerId="LiveId" clId="{13EF4B44-C2DC-4FC5-A362-2149C6341EE7}" dt="2026-05-14T12:12:40.606" v="32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jhovanny merino" userId="293e63627b939b02" providerId="LiveId" clId="{13EF4B44-C2DC-4FC5-A362-2149C6341EE7}" dt="2026-05-14T12:13:45.682" v="50" actId="20577"/>
        <pc:sldMkLst>
          <pc:docMk/>
          <pc:sldMk cId="0" sldId="257"/>
        </pc:sldMkLst>
        <pc:spChg chg="mod">
          <ac:chgData name="jhovanny merino" userId="293e63627b939b02" providerId="LiveId" clId="{13EF4B44-C2DC-4FC5-A362-2149C6341EE7}" dt="2026-05-14T12:12:52.714" v="42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13:34.568" v="44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12:59.031" v="43" actId="6549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13:36.003" v="45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13:36.997" v="46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13:38.017" v="47" actId="20577"/>
          <ac:spMkLst>
            <pc:docMk/>
            <pc:sldMk cId="0" sldId="257"/>
            <ac:spMk id="25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13:41.623" v="48" actId="2057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13:43.777" v="49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13:45.682" v="50" actId="20577"/>
          <ac:spMkLst>
            <pc:docMk/>
            <pc:sldMk cId="0" sldId="257"/>
            <ac:spMk id="40" creationId="{00000000-0000-0000-0000-000000000000}"/>
          </ac:spMkLst>
        </pc:spChg>
      </pc:sldChg>
      <pc:sldChg chg="modSp mod">
        <pc:chgData name="jhovanny merino" userId="293e63627b939b02" providerId="LiveId" clId="{13EF4B44-C2DC-4FC5-A362-2149C6341EE7}" dt="2026-05-14T12:14:23.658" v="56" actId="20577"/>
        <pc:sldMkLst>
          <pc:docMk/>
          <pc:sldMk cId="0" sldId="259"/>
        </pc:sldMkLst>
        <pc:spChg chg="mod">
          <ac:chgData name="jhovanny merino" userId="293e63627b939b02" providerId="LiveId" clId="{13EF4B44-C2DC-4FC5-A362-2149C6341EE7}" dt="2026-05-14T12:14:23.658" v="56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jhovanny merino" userId="293e63627b939b02" providerId="LiveId" clId="{13EF4B44-C2DC-4FC5-A362-2149C6341EE7}" dt="2026-05-14T12:21:43.103" v="74" actId="20577"/>
        <pc:sldMkLst>
          <pc:docMk/>
          <pc:sldMk cId="0" sldId="261"/>
        </pc:sldMkLst>
        <pc:spChg chg="mod">
          <ac:chgData name="jhovanny merino" userId="293e63627b939b02" providerId="LiveId" clId="{13EF4B44-C2DC-4FC5-A362-2149C6341EE7}" dt="2026-05-14T12:21:43.103" v="74" actId="20577"/>
          <ac:spMkLst>
            <pc:docMk/>
            <pc:sldMk cId="0" sldId="261"/>
            <ac:spMk id="35" creationId="{00000000-0000-0000-0000-000000000000}"/>
          </ac:spMkLst>
        </pc:spChg>
      </pc:sldChg>
      <pc:sldChg chg="modSp mod">
        <pc:chgData name="jhovanny merino" userId="293e63627b939b02" providerId="LiveId" clId="{13EF4B44-C2DC-4FC5-A362-2149C6341EE7}" dt="2026-05-14T12:22:05.347" v="82" actId="1035"/>
        <pc:sldMkLst>
          <pc:docMk/>
          <pc:sldMk cId="0" sldId="262"/>
        </pc:sldMkLst>
        <pc:spChg chg="mod">
          <ac:chgData name="jhovanny merino" userId="293e63627b939b02" providerId="LiveId" clId="{13EF4B44-C2DC-4FC5-A362-2149C6341EE7}" dt="2026-05-14T12:22:05.347" v="82" actId="1035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hovanny merino" userId="293e63627b939b02" providerId="LiveId" clId="{13EF4B44-C2DC-4FC5-A362-2149C6341EE7}" dt="2026-05-14T12:28:55.333" v="116" actId="20577"/>
        <pc:sldMkLst>
          <pc:docMk/>
          <pc:sldMk cId="0" sldId="265"/>
        </pc:sldMkLst>
        <pc:spChg chg="mod">
          <ac:chgData name="jhovanny merino" userId="293e63627b939b02" providerId="LiveId" clId="{13EF4B44-C2DC-4FC5-A362-2149C6341EE7}" dt="2026-05-14T12:27:52.400" v="96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28:36.249" v="109" actId="20577"/>
          <ac:spMkLst>
            <pc:docMk/>
            <pc:sldMk cId="0" sldId="265"/>
            <ac:spMk id="61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28:55.333" v="116" actId="20577"/>
          <ac:spMkLst>
            <pc:docMk/>
            <pc:sldMk cId="0" sldId="265"/>
            <ac:spMk id="77" creationId="{00000000-0000-0000-0000-000000000000}"/>
          </ac:spMkLst>
        </pc:spChg>
      </pc:sldChg>
      <pc:sldChg chg="modSp mod">
        <pc:chgData name="jhovanny merino" userId="293e63627b939b02" providerId="LiveId" clId="{13EF4B44-C2DC-4FC5-A362-2149C6341EE7}" dt="2026-05-14T12:30:32.529" v="120" actId="20577"/>
        <pc:sldMkLst>
          <pc:docMk/>
          <pc:sldMk cId="0" sldId="266"/>
        </pc:sldMkLst>
        <pc:spChg chg="mod">
          <ac:chgData name="jhovanny merino" userId="293e63627b939b02" providerId="LiveId" clId="{13EF4B44-C2DC-4FC5-A362-2149C6341EE7}" dt="2026-05-14T12:30:32.529" v="120" actId="20577"/>
          <ac:spMkLst>
            <pc:docMk/>
            <pc:sldMk cId="0" sldId="266"/>
            <ac:spMk id="16" creationId="{00000000-0000-0000-0000-000000000000}"/>
          </ac:spMkLst>
        </pc:spChg>
      </pc:sldChg>
      <pc:sldChg chg="modSp mod">
        <pc:chgData name="jhovanny merino" userId="293e63627b939b02" providerId="LiveId" clId="{13EF4B44-C2DC-4FC5-A362-2149C6341EE7}" dt="2026-05-14T12:31:43.704" v="146" actId="20577"/>
        <pc:sldMkLst>
          <pc:docMk/>
          <pc:sldMk cId="0" sldId="268"/>
        </pc:sldMkLst>
        <pc:spChg chg="mod">
          <ac:chgData name="jhovanny merino" userId="293e63627b939b02" providerId="LiveId" clId="{13EF4B44-C2DC-4FC5-A362-2149C6341EE7}" dt="2026-05-14T12:31:32.269" v="138" actId="20577"/>
          <ac:spMkLst>
            <pc:docMk/>
            <pc:sldMk cId="0" sldId="268"/>
            <ac:spMk id="36" creationId="{00000000-0000-0000-0000-000000000000}"/>
          </ac:spMkLst>
        </pc:spChg>
        <pc:spChg chg="mod">
          <ac:chgData name="jhovanny merino" userId="293e63627b939b02" providerId="LiveId" clId="{13EF4B44-C2DC-4FC5-A362-2149C6341EE7}" dt="2026-05-14T12:31:43.704" v="146" actId="20577"/>
          <ac:spMkLst>
            <pc:docMk/>
            <pc:sldMk cId="0" sldId="268"/>
            <ac:spMk id="4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88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017"/>
                </a:solidFill>
              </a:rPr>
              <a:t>CONFIDENCIAL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REVISIÓN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REGULARIZACIÓN CONTABLE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ERP S10 · Grupo CMO / INTEGRAL / MEDARQ / AMERICANA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77240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CONTINGENCIA NETA DEL GRUPO: </a:t>
            </a:r>
            <a:r>
              <a:rPr lang="en-US" sz="2200" b="1" dirty="0">
                <a:solidFill>
                  <a:srgbClr val="D4A017"/>
                </a:solidFill>
              </a:rPr>
              <a:t>S/ 4,536,337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Participantes: Comite </a:t>
            </a:r>
            <a:r>
              <a:rPr lang="en-US" sz="1200" dirty="0" err="1">
                <a:solidFill>
                  <a:srgbClr val="CADCFC"/>
                </a:solidFill>
              </a:rPr>
              <a:t>Consultivo</a:t>
            </a:r>
            <a:r>
              <a:rPr lang="en-US" sz="1200" dirty="0">
                <a:solidFill>
                  <a:srgbClr val="CADCFC"/>
                </a:solidFill>
              </a:rPr>
              <a:t>  ·  Finanzas  ·  Contabilidad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14 de mayo de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Auditoría BizSmartHub  | 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2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</a:t>
            </a:r>
            <a:r>
              <a:rPr lang="en-US" sz="2600" b="1" dirty="0" err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658368" cy="34747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15568" y="1170432"/>
            <a:ext cx="6492240" cy="347472"/>
          </a:xfrm>
          <a:prstGeom prst="rect">
            <a:avLst/>
          </a:prstGeom>
          <a:solidFill>
            <a:srgbClr val="FFDAD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207008" y="11704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mayo 2026 — vence MANANA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11704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0000"/>
                </a:solidFill>
              </a:rPr>
              <a:t>15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73352"/>
            <a:ext cx="658368" cy="34747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167335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" y="1673352"/>
            <a:ext cx="6492240" cy="347472"/>
          </a:xfrm>
          <a:prstGeom prst="rect">
            <a:avLst/>
          </a:prstGeom>
          <a:solidFill>
            <a:srgbClr val="FCE4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207008" y="16733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GROUP — Patrimonio negativo y Art. 220 LGS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16733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55A11"/>
                </a:solidFill>
              </a:rPr>
              <a:t>20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176272"/>
            <a:ext cx="658368" cy="34747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65760" y="21762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5568" y="2176272"/>
            <a:ext cx="6492240" cy="347472"/>
          </a:xfrm>
          <a:prstGeom prst="rect">
            <a:avLst/>
          </a:prstGeom>
          <a:solidFill>
            <a:srgbClr val="FCE4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207008" y="21762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AMERICANA — BBVA -S/13M sin asiento identificado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18120" y="21762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55A11"/>
                </a:solidFill>
              </a:rPr>
              <a:t>20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679192"/>
            <a:ext cx="658368" cy="34747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65760" y="267919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15568" y="2679192"/>
            <a:ext cx="6492240" cy="347472"/>
          </a:xfrm>
          <a:prstGeom prst="rect">
            <a:avLst/>
          </a:prstGeom>
          <a:solidFill>
            <a:srgbClr val="DEEA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207008" y="26791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— S/1.83M diferencia + participaciones S/212K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18120" y="26791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5B6"/>
                </a:solidFill>
              </a:rPr>
              <a:t>20 min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182112"/>
            <a:ext cx="658368" cy="34747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65760" y="318211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15568" y="3182112"/>
            <a:ext cx="6492240" cy="347472"/>
          </a:xfrm>
          <a:prstGeom prst="rect">
            <a:avLst/>
          </a:prstGeom>
          <a:solidFill>
            <a:srgbClr val="DEEA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1207008" y="318211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MEDARQ — Sueldos impagos S/196K + provisiones NIIF 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18120" y="3182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5B6"/>
                </a:solidFill>
              </a:rPr>
              <a:t>15 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685032"/>
            <a:ext cx="658368" cy="34747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65760" y="368503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15568" y="3685032"/>
            <a:ext cx="6492240" cy="347472"/>
          </a:xfrm>
          <a:prstGeom prst="rect">
            <a:avLst/>
          </a:prstGeom>
          <a:solidFill>
            <a:srgbClr val="FCE4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1207008" y="36850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SUNAT: Dividendos presuntos + Precios de Transferencia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818120" y="36850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55A11"/>
                </a:solidFill>
              </a:rPr>
              <a:t>15 min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187952"/>
            <a:ext cx="658368" cy="347472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365760" y="418795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15568" y="4187952"/>
            <a:ext cx="6492240" cy="347472"/>
          </a:xfrm>
          <a:prstGeom prst="rect">
            <a:avLst/>
          </a:prstGeom>
          <a:solidFill>
            <a:srgbClr val="E2EF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1207008" y="41879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compromisos firmados + agenda de seguimiento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18120" y="41879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75623"/>
                </a:solidFill>
              </a:rPr>
              <a:t>15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3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PANORAMA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Grupo — 4 Empresas Auditadas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309360" y="1143000"/>
            <a:ext cx="256032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309360" y="1216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D4A017"/>
                </a:solidFill>
              </a:rPr>
              <a:t>CONTINGENCIA NETA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09360" y="1435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4.54M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18928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sobre S/ 4.96M bruto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371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37160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1133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GROUP S.A.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1408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RUC 22011489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1700784"/>
            <a:ext cx="1188720" cy="320040"/>
          </a:xfrm>
          <a:prstGeom prst="rect">
            <a:avLst/>
          </a:prstGeom>
          <a:solidFill>
            <a:srgbClr val="FCE4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11480" y="17007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5A11"/>
                </a:solidFill>
              </a:rPr>
              <a:t>ALTA VIGILANCIA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" y="21488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757D"/>
                </a:solidFill>
              </a:rPr>
              <a:t>Problema principal: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3192" y="23317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NEGATIVO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-S/2.87M → Art. 220 LGS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310128"/>
            <a:ext cx="1188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93192" y="33832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757D"/>
                </a:solidFill>
              </a:rPr>
              <a:t>Margen neto YTD: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3192" y="35661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-560.6%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83080" y="1097280"/>
            <a:ext cx="1371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1783080" y="1097280"/>
            <a:ext cx="137160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828800" y="1133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CONSULTORES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0" y="1408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RUC 80688541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74520" y="1700784"/>
            <a:ext cx="1188720" cy="320040"/>
          </a:xfrm>
          <a:prstGeom prst="rect">
            <a:avLst/>
          </a:prstGeom>
          <a:solidFill>
            <a:srgbClr val="FFDAD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874520" y="17007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</a:rPr>
              <a:t>CRITICA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56232" y="21488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757D"/>
                </a:solidFill>
              </a:rPr>
              <a:t>Problema principal: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56232" y="23317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S/1.83M diferencia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vs contabilidad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74520" y="3310128"/>
            <a:ext cx="1188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1856232" y="33832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757D"/>
                </a:solidFill>
              </a:rPr>
              <a:t>Margen neto YTD: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56232" y="35661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+2.7% (OK)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46120" y="1097280"/>
            <a:ext cx="1371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246120" y="1097280"/>
            <a:ext cx="137160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291840" y="1133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MEDARQ S.A.C.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91840" y="1408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RUC 80688706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37560" y="1700784"/>
            <a:ext cx="1188720" cy="320040"/>
          </a:xfrm>
          <a:prstGeom prst="rect">
            <a:avLst/>
          </a:prstGeom>
          <a:solidFill>
            <a:srgbClr val="FCE4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3337560" y="17007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55A11"/>
                </a:solidFill>
              </a:rPr>
              <a:t>ALTA VIGILANCIA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19272" y="21488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757D"/>
                </a:solidFill>
              </a:rPr>
              <a:t>Problema principal: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19272" y="23317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Sueldos impagos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S/196K (42% planilla)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37560" y="3310128"/>
            <a:ext cx="1188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3319272" y="33832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757D"/>
                </a:solidFill>
              </a:rPr>
              <a:t>Margen neto YTD: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19272" y="35661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-54.0%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709160" y="1097280"/>
            <a:ext cx="13716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4709160" y="1097280"/>
            <a:ext cx="1371600" cy="5029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754880" y="1133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AMERICANA (CACE)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54880" y="1408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RUC 80688524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00600" y="1700784"/>
            <a:ext cx="1188720" cy="320040"/>
          </a:xfrm>
          <a:prstGeom prst="rect">
            <a:avLst/>
          </a:prstGeom>
          <a:solidFill>
            <a:srgbClr val="FFDAD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800600" y="17007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</a:rPr>
              <a:t>CRITICA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82312" y="21488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757D"/>
                </a:solidFill>
              </a:rPr>
              <a:t>Problema principal: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82312" y="23317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 -S/13M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 S/3M incobrable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00600" y="3310128"/>
            <a:ext cx="1188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782312" y="33832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C757D"/>
                </a:solidFill>
              </a:rPr>
              <a:t>Margen neto YTD: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82312" y="35661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-104.9%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20040" y="397764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</a:rPr>
              <a:t>Solo INTEGRAL es rentable. El grupo acumula -S/1.74M en perdidas netas YTD 2026.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4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 ALERTA CRITICA — ACCION REQUERIDA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MAYO 2026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</a:rPr>
              <a:t>Compensación por Tiempo de Servicios — VENCIMIENTO: MAÑANA 15 DE MAYO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2011680" cy="914400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2011680" cy="6400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GROUP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258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A017"/>
                </a:solidFill>
              </a:rPr>
              <a:t>Estado ERP: PENDIENTE de deposito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1874520"/>
            <a:ext cx="2011680" cy="914400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468880" y="1874520"/>
            <a:ext cx="2011680" cy="6400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5603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258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A017"/>
                </a:solidFill>
              </a:rPr>
              <a:t>Estado ERP: PENDIENTE de deposito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874520"/>
            <a:ext cx="2011680" cy="914400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617720" y="1874520"/>
            <a:ext cx="2011680" cy="6400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7091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258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A017"/>
                </a:solidFill>
              </a:rPr>
              <a:t>CTS mayo 2025 tambien omitida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1874520"/>
            <a:ext cx="2011680" cy="914400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766560" y="1874520"/>
            <a:ext cx="2011680" cy="6400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8580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MEDARQ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2258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4A017"/>
                </a:solidFill>
              </a:rPr>
              <a:t>CTS mayo 2025 tambien omitida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8503920" cy="1508760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73152" cy="150876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017"/>
                </a:solidFill>
              </a:rPr>
              <a:t>PREGUNTAS A RESPONDER EN ESTE BLOQUE: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27355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¿Cuánto es el monto exacto por empresa?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¿Está disponible el efectivo para depositar hoy/mañana antes del cierre bancario?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¿Quién ejecuta las transferencias a las cuentas CTS de cada trabajador?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5720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8080"/>
                </a:solidFill>
              </a:rPr>
              <a:t>Multa SUNAFIL por depósito tardío: S/275,000 por empresa · No hacerlo esta semana = 4 × S/275K = S/1.1M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CMO GROUP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Neto NEGATIVO — Riesgo Art. 220 LGS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2743200" cy="13716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1243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</a:rPr>
              <a:t>Patrimonio Neto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51790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 2,875,935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2084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17"/>
                </a:solidFill>
              </a:rPr>
              <a:t>Causal de disolución (Art. 220 LGS)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2743200" cy="100584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657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</a:rPr>
              <a:t>9,809 asientos fecha FUTURA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9626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1,182M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5760" y="33649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</a:rPr>
              <a:t>Requieren auditoría antes de migración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1170432"/>
            <a:ext cx="5486400" cy="1371600"/>
          </a:xfrm>
          <a:prstGeom prst="rect">
            <a:avLst/>
          </a:prstGeom>
          <a:solidFill>
            <a:srgbClr val="FFF8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337560" y="1170432"/>
            <a:ext cx="64008" cy="13716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474720" y="12618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el Art. 220 LGS?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1517904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pérdidas reducen el patrimonio a menos de 1/3 del capital, los DIRECTORES tienen obligación legal 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Convocar Junta Extraordinaria, 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Presentar plan de capitalización o reducción de capital.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670048"/>
            <a:ext cx="5486400" cy="1097280"/>
          </a:xfrm>
          <a:prstGeom prst="rect">
            <a:avLst/>
          </a:prstGeom>
          <a:solidFill>
            <a:srgbClr val="FFF8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337560" y="2670048"/>
            <a:ext cx="64008" cy="10972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474720" y="27614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riesgo si no actuamos?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30175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PERSONAL (civil y penal) de los directores. Si CMO incumple obligaciones comerciales sin capitalizar, los accionistas y directores responden con su patrimonio personal.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58768"/>
            <a:ext cx="8503920" cy="658368"/>
          </a:xfrm>
          <a:prstGeom prst="rect">
            <a:avLst/>
          </a:prstGeom>
          <a:solidFill>
            <a:srgbClr val="FCE4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73152" cy="65836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30352" y="3858768"/>
            <a:ext cx="8302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CLAVE: ¿Los accionistas conocen esta situación? ¿Hay capital en Registros Públicos diferente al ERP? ¿Cuál es el plan de capitalización y en qué fecha va a Junta?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6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AMERICANA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 Continental MN: Saldo -S/13M sin Asiento Identificado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05840" y="1207008"/>
            <a:ext cx="329184" cy="329184"/>
          </a:xfrm>
          <a:prstGeom prst="ellipse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335024" y="1371600"/>
            <a:ext cx="1371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</a:rPr>
              <a:t>Fin 2023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56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1207008"/>
            <a:ext cx="329184" cy="329184"/>
          </a:xfrm>
          <a:prstGeom prst="ellipse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346704" y="1371600"/>
            <a:ext cx="1371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37744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</a:rPr>
              <a:t>Fin 2024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1956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207008"/>
            <a:ext cx="329184" cy="329184"/>
          </a:xfrm>
          <a:prstGeom prst="ellipse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58384" y="1371600"/>
            <a:ext cx="13716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38912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</a:rPr>
              <a:t>Fin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1956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+S/ 170,766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1207008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40080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</a:rPr>
              <a:t>HOY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</a:rPr>
              <a:t>14/05/2026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19568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 13,034,687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23591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55A11"/>
                </a:solidFill>
              </a:rPr>
              <a:t>El saldo NEGATIVO nació en enero 2026 — NO en 2023 como se creía inicialmente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697480"/>
            <a:ext cx="4114800" cy="1024128"/>
          </a:xfrm>
          <a:prstGeom prst="rect">
            <a:avLst/>
          </a:prstGeom>
          <a:solidFill>
            <a:srgbClr val="DEEA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65760" y="2697480"/>
            <a:ext cx="64008" cy="10241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02920" y="2788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raiz identificada en auditoria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04495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enero 2026 se registro un asiento contable por S/13.6M que NO paso por el modulo de Tesoreria (OB_Pago). Solo 12 pagos reales por S/165,586. Diferencia: S/13,616,619.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697480"/>
            <a:ext cx="4206240" cy="1024128"/>
          </a:xfrm>
          <a:prstGeom prst="rect">
            <a:avLst/>
          </a:prstGeom>
          <a:solidFill>
            <a:srgbClr val="FFDA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663440" y="2697480"/>
            <a:ext cx="64008" cy="102412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00600" y="2788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 PERGOLA: 97.9% vencida &gt;90 dias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044952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S/3,002,719 de PERGOLA concentran casi toda la cartera. NIIF 9 exige provision al 100% = impacto en P&amp;L: -S/3M adicionales.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858768"/>
            <a:ext cx="8503920" cy="658368"/>
          </a:xfrm>
          <a:prstGeom prst="rect">
            <a:avLst/>
          </a:prstGeom>
          <a:solidFill>
            <a:srgbClr val="DEEA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65760" y="3858768"/>
            <a:ext cx="73152" cy="65836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30352" y="3858768"/>
            <a:ext cx="8302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CLAVE: ¿</a:t>
            </a:r>
            <a:r>
              <a:rPr lang="en-US" sz="1100" dirty="0" err="1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estado de cuenta BBVA real ahora mismo? ¿Quien autorizo el asiento de enero 2026? ¿Hay demanda judicial activa contra PERGOLA?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640"/>
            <a:ext cx="1645920" cy="2560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INTEGRAL CONSULTORES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S/1.83M Diferencia Facturas vs Contabilidad + Participaciones Vencidas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2011680" cy="1005840"/>
          </a:xfrm>
          <a:prstGeom prst="rect">
            <a:avLst/>
          </a:prstGeom>
          <a:solidFill>
            <a:srgbClr val="FCE4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2011680" cy="9144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1280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1,831,798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Facturas emitidas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no reflejadas en cont.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1170432"/>
            <a:ext cx="2011680" cy="1005840"/>
          </a:xfrm>
          <a:prstGeom prst="rect">
            <a:avLst/>
          </a:prstGeom>
          <a:solidFill>
            <a:srgbClr val="FFDA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542032" y="1170432"/>
            <a:ext cx="2011680" cy="91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542032" y="1280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211,878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42032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Participaciones DL 892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VENCIDAS 30/04/2026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18304" y="1170432"/>
            <a:ext cx="2011680" cy="1005840"/>
          </a:xfrm>
          <a:prstGeom prst="rect">
            <a:avLst/>
          </a:prstGeom>
          <a:solidFill>
            <a:srgbClr val="FCE4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718304" y="1170432"/>
            <a:ext cx="2011680" cy="9144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718304" y="1280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11,100,000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18304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Préstamo INTEGRAL→CMO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Riesgo dividendo presunto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94576" y="1170432"/>
            <a:ext cx="1828800" cy="1005840"/>
          </a:xfrm>
          <a:prstGeom prst="rect">
            <a:avLst/>
          </a:prstGeom>
          <a:solidFill>
            <a:srgbClr val="E2EFD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894576" y="1170432"/>
            <a:ext cx="1828800" cy="9144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894576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94576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ÚNICA empresa rentable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del grupo YTD 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304288"/>
            <a:ext cx="4114800" cy="1170432"/>
          </a:xfrm>
          <a:prstGeom prst="rect">
            <a:avLst/>
          </a:prstGeom>
          <a:solidFill>
            <a:srgbClr val="FCE4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65760" y="2304288"/>
            <a:ext cx="64008" cy="117043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02920" y="2395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subdeclaración a SUNAT?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2651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S/1.83M: solo S/153K son facturas sin asiento real. El resto (~S/1.68M) es diferencia de timing (NIIF 15), anticipos y notas de crédito. Pero necesita reconciliación documentada o SUNAT puede interpretar como subdeclaración.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304288"/>
            <a:ext cx="4206240" cy="1170432"/>
          </a:xfrm>
          <a:prstGeom prst="rect">
            <a:avLst/>
          </a:prstGeom>
          <a:solidFill>
            <a:srgbClr val="FFDA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663440" y="2304288"/>
            <a:ext cx="64008" cy="117043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00600" y="23957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Participaciones DL 892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2651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empresa con más de 20 trabajadores debe distribuir % de utilidades. INTEGRAL tiene S/211,878 provisionados y S/0 pagados al 11/05/2026. Venció el 30 de abril. Los trabajadores pueden demandar y reportar a SUNAFIL.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584448"/>
            <a:ext cx="8503920" cy="475488"/>
          </a:xfrm>
          <a:prstGeom prst="rect">
            <a:avLst/>
          </a:prstGeom>
          <a:solidFill>
            <a:srgbClr val="E2EF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65760" y="3584448"/>
            <a:ext cx="73152" cy="475488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30352" y="3584448"/>
            <a:ext cx="8275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</a:rPr>
              <a:t>OPORTUNIDAD: INTEGRAL tiene crédito tributario neto de S/287,734 (Renta 3ª) compensable contra IGV por pagar S/195K → ahorro inmediato sin desembolso.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178808"/>
            <a:ext cx="8503920" cy="640080"/>
          </a:xfrm>
          <a:prstGeom prst="rect">
            <a:avLst/>
          </a:prstGeom>
          <a:solidFill>
            <a:srgbClr val="DEEA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365760" y="4178808"/>
            <a:ext cx="73152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30352" y="4178808"/>
            <a:ext cx="8302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CLAVE: ¿Tienen el registro de ventas para contrastar? ¿Existe contrato de mutuo por S/11.1M con CMO? ¿Hay fondos para pagar participaciones esta semana?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8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MEDARQ S.A.C.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Sueldos Impagos S/196K + 10 Asientos sin Factura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2560320" cy="1005840"/>
          </a:xfrm>
          <a:prstGeom prst="rect">
            <a:avLst/>
          </a:prstGeom>
          <a:solidFill>
            <a:srgbClr val="FFDA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2560320" cy="91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196,277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Sueldos por pagar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~42% de planilla pendiente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90672" y="1170432"/>
            <a:ext cx="2560320" cy="1005840"/>
          </a:xfrm>
          <a:prstGeom prst="rect">
            <a:avLst/>
          </a:prstGeom>
          <a:solidFill>
            <a:srgbClr val="FCE4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090672" y="1170432"/>
            <a:ext cx="2560320" cy="9144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090672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090672" y="1828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Asientos clase 70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sin factura (S/400K bruto)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15584" y="1170432"/>
            <a:ext cx="2926080" cy="1005840"/>
          </a:xfrm>
          <a:prstGeom prst="rect">
            <a:avLst/>
          </a:prstGeom>
          <a:solidFill>
            <a:srgbClr val="FCE4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815584" y="1170432"/>
            <a:ext cx="2926080" cy="9144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815584" y="1280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275K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815584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Multa SUNAFIL potencial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</a:rPr>
              <a:t>por CTS mayo 2025 no depositado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8503920" cy="1078992"/>
          </a:xfrm>
          <a:prstGeom prst="rect">
            <a:avLst/>
          </a:prstGeom>
          <a:solidFill>
            <a:srgbClr val="DEEAF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64008" cy="107899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2920" y="2377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los asientos sin factura NO son necesariamente fraude?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63347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los 10 asientos son PROVISIONES NIIF 15 con glosa 'SERVICIO DE GESTIÓN ACTIVA ENE 26'. Las otras 5 son sus extornos (reversas al recibir la factura real). Es práctica contable legítima PERO requiere documentación interna formal que actualmente NO existe.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493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00000"/>
                </a:solidFill>
              </a:rPr>
              <a:t>MEDARQ es la empresa con mayor riesgo LABORAL del grupo (sueldos + CTS). Riesgo de denuncia SUNAFIL y denuncia penal por retención ilegal de remuneraciones.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13632"/>
            <a:ext cx="8503920" cy="658368"/>
          </a:xfrm>
          <a:prstGeom prst="rect">
            <a:avLst/>
          </a:prstGeom>
          <a:solidFill>
            <a:srgbClr val="DEEA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65760" y="3913632"/>
            <a:ext cx="73152" cy="65836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30352" y="3913632"/>
            <a:ext cx="8302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CLAVE: ¿Los S/196K están realmente sin pagar o ya se pagaron y falta el asiento? ¿Existen los documentos internos de las 5 provisiones NIIF 15? ¿Cuándo se formalizan con facturas?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9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017"/>
                </a:solidFill>
              </a:rPr>
              <a:t>RIESGO TRIBUTARIO — SUNAT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Contingencias por Empresa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8595360" cy="393192"/>
          </a:xfrm>
          <a:prstGeom prst="rect">
            <a:avLst/>
          </a:prstGeom>
          <a:solidFill>
            <a:srgbClr val="132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Dividendos presuntos — Prestamo INTEGRAL→CMO S/11.1M (Art. 24-A LIR)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40680" y="98755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CMO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0" y="98755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3,272,000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73568" y="1042416"/>
            <a:ext cx="822960" cy="283464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973568" y="104241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MUY ALTO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417320"/>
            <a:ext cx="8595360" cy="39319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65760" y="141732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por NO presentar Estudio Tecnico Precios de Transferencia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40680" y="141732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CMO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0" y="141732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265,000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73568" y="1472184"/>
            <a:ext cx="822960" cy="283464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973568" y="147218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1847088"/>
            <a:ext cx="8595360" cy="393192"/>
          </a:xfrm>
          <a:prstGeom prst="rect">
            <a:avLst/>
          </a:prstGeom>
          <a:solidFill>
            <a:srgbClr val="132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65760" y="1847088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IGV subdeclarado potencial (INTEGRAL + MEDARQ)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0" y="184708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Varias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184708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350,000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73568" y="1901952"/>
            <a:ext cx="822960" cy="2834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973568" y="190195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276856"/>
            <a:ext cx="8595360" cy="39319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65760" y="2276856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SUNAFIL — Participaciones DL 892 vencidas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227685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INTEGRAL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227685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275,000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73568" y="2331720"/>
            <a:ext cx="822960" cy="283464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973568" y="2331720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706624"/>
            <a:ext cx="8595360" cy="393192"/>
          </a:xfrm>
          <a:prstGeom prst="rect">
            <a:avLst/>
          </a:prstGeom>
          <a:solidFill>
            <a:srgbClr val="132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65760" y="2706624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SUNAFIL — CTS mayo 2025 ausente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0680" y="270662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AMER / MEDARQ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270662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550,000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73568" y="2761488"/>
            <a:ext cx="822960" cy="283464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7973568" y="2761488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3136392"/>
            <a:ext cx="8595360" cy="39319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65760" y="3136392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laborales sueldos atrasados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40680" y="313639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MEDARQ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75120" y="313639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196,000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73568" y="3191256"/>
            <a:ext cx="822960" cy="283464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7973568" y="3191256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566160"/>
            <a:ext cx="8595360" cy="393192"/>
          </a:xfrm>
          <a:prstGeom prst="rect">
            <a:avLst/>
          </a:prstGeom>
          <a:solidFill>
            <a:srgbClr val="132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65760" y="356616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Creditos tributarios RECUPERABLES (compensar contra deuda)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40680" y="356616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INT / AMER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0" y="356616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C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 426,663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973568" y="3621024"/>
            <a:ext cx="822960" cy="283464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7973568" y="3621024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OPORTUNIDAD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4041648"/>
            <a:ext cx="859536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365760" y="404164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CONTINGENCIA NETA TOTAL DEL GRUPO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00800" y="4041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4,536,337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10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PLAN DE ACCIÓN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Compromisos a </a:t>
            </a:r>
            <a:r>
              <a:rPr lang="en-US" sz="2600" b="1" dirty="0" err="1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Firmar</a:t>
            </a: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Por Empresa y Responsable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54864" cy="62179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84048" y="1353312"/>
            <a:ext cx="292608" cy="29260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" y="1234440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Depositar CTS mayo 2026 — las 4 empresas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1572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RRHH / Finanzas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26080" y="1572768"/>
            <a:ext cx="1371600" cy="201168"/>
          </a:xfrm>
          <a:prstGeom prst="rect">
            <a:avLst/>
          </a:prstGeom>
          <a:solidFill>
            <a:srgbClr val="FFDAD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926080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0000"/>
                </a:solidFill>
              </a:rPr>
              <a:t>15/05/2026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883664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74320" y="1883664"/>
            <a:ext cx="54864" cy="62179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84048" y="2048256"/>
            <a:ext cx="292608" cy="29260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19293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Convocar Junta Extraordinaria CMO — Art. 220 LGS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9808" y="2267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Directorio / Legal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26080" y="2267712"/>
            <a:ext cx="1371600" cy="20116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926080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</a:rPr>
              <a:t>________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578608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74320" y="2578608"/>
            <a:ext cx="54864" cy="6217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84048" y="2743200"/>
            <a:ext cx="292608" cy="292608"/>
          </a:xfrm>
          <a:prstGeom prst="ellipse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84048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" y="2624328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asiento enero 2026 BBVA MN AMERICANA (-S/13M)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9808" y="29626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Tesorería / Cont.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926080" y="2962656"/>
            <a:ext cx="1371600" cy="20116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926080" y="2962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</a:rPr>
              <a:t>________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273552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274320" y="3273552"/>
            <a:ext cx="54864" cy="6217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384048" y="3438144"/>
            <a:ext cx="292608" cy="292608"/>
          </a:xfrm>
          <a:prstGeom prst="ellipse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38404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" y="3319272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Reconciliar S/1.83M INTEGRAL (facturas vs contabilidad)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" y="3657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Contabilidad INTEGRAL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926080" y="3657600"/>
            <a:ext cx="1371600" cy="20116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2926080" y="3657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</a:rPr>
              <a:t>________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968496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274320" y="3968496"/>
            <a:ext cx="54864" cy="6217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384048" y="4133088"/>
            <a:ext cx="292608" cy="292608"/>
          </a:xfrm>
          <a:prstGeom prst="ellipse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384048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" y="4014216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Participaciones DL 892 INTEGRAL — S/212K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9808" y="4352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Legal + RRHH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26080" y="4352544"/>
            <a:ext cx="1371600" cy="20116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292608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</a:rPr>
              <a:t>________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1188720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709160" y="1188720"/>
            <a:ext cx="54864" cy="62179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4818888" y="1353312"/>
            <a:ext cx="292608" cy="292608"/>
          </a:xfrm>
          <a:prstGeom prst="ellipse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481888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84648" y="1234440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y regularizar sueldos impagos MEDARQ S/196K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184648" y="1572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RRHH MEDARQ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60920" y="1572768"/>
            <a:ext cx="1371600" cy="20116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7360920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</a:rPr>
              <a:t>________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09160" y="1883664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4709160" y="1883664"/>
            <a:ext cx="54864" cy="62179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4818888" y="2048256"/>
            <a:ext cx="292608" cy="29260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4818888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84648" y="1929384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Precios de Transferencia (INTEGRAL→CMO)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184648" y="2267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Asesor tributario ext.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360920" y="2267712"/>
            <a:ext cx="1371600" cy="20116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7360920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</a:rPr>
              <a:t>________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09160" y="2578608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4709160" y="2578608"/>
            <a:ext cx="54864" cy="62179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Shape 65"/>
          <p:cNvSpPr/>
          <p:nvPr/>
        </p:nvSpPr>
        <p:spPr>
          <a:xfrm>
            <a:off x="4818888" y="2743200"/>
            <a:ext cx="292608" cy="29260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4818888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U8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184648" y="2624328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provisiones NIIF 15 MEDARQ (5 asientos sin factura)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184648" y="29626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Contabilidad MEDARQ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360920" y="2962656"/>
            <a:ext cx="1371600" cy="20116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7360920" y="29626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</a:rPr>
              <a:t>________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09160" y="3273552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4709160" y="3273552"/>
            <a:ext cx="54864" cy="62179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Shape 73"/>
          <p:cNvSpPr/>
          <p:nvPr/>
        </p:nvSpPr>
        <p:spPr>
          <a:xfrm>
            <a:off x="4818888" y="3438144"/>
            <a:ext cx="292608" cy="29260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6" name="Text 74"/>
          <p:cNvSpPr/>
          <p:nvPr/>
        </p:nvSpPr>
        <p:spPr>
          <a:xfrm>
            <a:off x="481888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U9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84648" y="3319272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acción legal de cobro contra PERGOLA S/3M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5184648" y="3657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Legal AMERICANA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360920" y="3657600"/>
            <a:ext cx="1371600" cy="20116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0" name="Text 78"/>
          <p:cNvSpPr/>
          <p:nvPr/>
        </p:nvSpPr>
        <p:spPr>
          <a:xfrm>
            <a:off x="7360920" y="3657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</a:rPr>
              <a:t>________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709160" y="3968496"/>
            <a:ext cx="4251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709160" y="3968496"/>
            <a:ext cx="54864" cy="621792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3" name="Shape 81"/>
          <p:cNvSpPr/>
          <p:nvPr/>
        </p:nvSpPr>
        <p:spPr>
          <a:xfrm>
            <a:off x="4818888" y="4133088"/>
            <a:ext cx="292608" cy="292608"/>
          </a:xfrm>
          <a:prstGeom prst="ellipse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4" name="Text 82"/>
          <p:cNvSpPr/>
          <p:nvPr/>
        </p:nvSpPr>
        <p:spPr>
          <a:xfrm>
            <a:off x="4818888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U10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184648" y="4014216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9,809 asientos futuros CMO (S/1,182M)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184648" y="4352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Auditoría interna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360920" y="4352544"/>
            <a:ext cx="1371600" cy="20116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8" name="Text 86"/>
          <p:cNvSpPr/>
          <p:nvPr/>
        </p:nvSpPr>
        <p:spPr>
          <a:xfrm>
            <a:off x="736092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</a:rPr>
              <a:t>________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11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ERP — MIGRACIÓN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Clave sobre el ERP S10 y la Migración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3977640" cy="2468880"/>
          </a:xfrm>
          <a:prstGeom prst="rect">
            <a:avLst/>
          </a:prstGeom>
          <a:solidFill>
            <a:srgbClr val="FFDAD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397764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OPCIÓN A: Migrar con datos actuales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664208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Más rápido y económico
</a:t>
            </a: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graves:
</a:t>
            </a: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Los errores contables se trasladan al nuevo ERP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SUNAT encontrará las mismas inconsistencias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 nuevo sistema heredará el patrimonio negativo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Dificulta la auditoría futura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Posible vicio de origen en datos históricos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170432"/>
            <a:ext cx="3977640" cy="2468880"/>
          </a:xfrm>
          <a:prstGeom prst="rect">
            <a:avLst/>
          </a:prstGeom>
          <a:solidFill>
            <a:srgbClr val="E2EFD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800600" y="1170432"/>
            <a:ext cx="3977640" cy="411480"/>
          </a:xfrm>
          <a:prstGeom prst="rect">
            <a:avLst/>
          </a:prstGeom>
          <a:solidFill>
            <a:srgbClr val="375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00600" y="1170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OPCIÓN B: Regularizar primero, luego migrar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664208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ERP nuevo parte limpio y auditado
</a:t>
            </a: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Requiere:
</a:t>
            </a: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Asientos correctivos AC-01 a AC-14 del informe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Conciliar saldos bancarios reales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Registrar apertura CMO 2026 correctamente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Documentar provisiones MEDARQ / INTEGRAL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Plazo estimado: 30-60 días con equipo dedicado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4528" y="2130552"/>
            <a:ext cx="530352" cy="530352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224528" y="2130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22192"/>
            <a:ext cx="8503920" cy="676656"/>
          </a:xfrm>
          <a:prstGeom prst="rect">
            <a:avLst/>
          </a:prstGeom>
          <a:solidFill>
            <a:srgbClr val="DEEAF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73152" cy="676656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30352" y="3822192"/>
            <a:ext cx="8302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Opción B — Regularizar antes de migrar. La inversión en corrección de datos es menor que el costo de una auditoría SUNAT con datos incorrectos en un ERP nuevo.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5720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</a:rPr>
              <a:t>Decisiones hoy: ¿Quién lidera la corrección de datos? · ¿Cuánto tiempo? · ¿Qué empresa tiene prioridad?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12 /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REFERENCIA RÁPIDA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— Términos Clave de la Reunión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02336" y="11795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neto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14173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para los dueños si la empresa paga todas sus deudas. Si es negativo = debe más de lo que tiene.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74320" y="187452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02336" y="191109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220 LGS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" y="21488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directores a actuar cuando el patrimonio cae &lt;1/3 del capital. No actuar = responsabilidad personal.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02336" y="264261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" y="28803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obligatorio de los trabajadores. La empresa deposita en mayo y noviembre. Vence MAÑANA.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02336" y="33741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892 - Participaciones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" y="361188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utilidades que empresas con &gt;20 trabajadores deben distribuir a empleados. INTEGRAL debe S/212K desde 30/04.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06908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74320" y="406908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02336" y="410565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NIIF 15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2336" y="434340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sobre cuándo registrar un ingreso. Genera 'timing' legítimo entre factura y asiento contable.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14300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709160" y="114300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37176" y="11795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Dividendo presunto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37176" y="14173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 recalifica préstamos entre empresas relacionadas como distribución de utilidades → cobra 29.5%.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187452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4709160" y="187452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837176" y="191109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 Transferencia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37176" y="21488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para transacciones entre empresas del grupo. Necesitan contrato y tasa de mercado documentados.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60604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4709160" y="260604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837176" y="264261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SUNAFIL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37176" y="28803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 que inspecciona y multa incumplimientos laborales (CTS, participaciones, sueldos). S/275K por empresa.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33756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4709160" y="333756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837176" y="33741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bancaria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37176" y="361188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saldo del banco real (estado de cuenta) con saldo contable. Si no coinciden = problema.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4069080"/>
            <a:ext cx="42519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4709160" y="4069080"/>
            <a:ext cx="54864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837176" y="410565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NIIF 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37176" y="434340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provisionar (reconocer como pérdida probable) cuentas por cobrar difíciles de recuperar.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Reunión de Auditoría Contable — Grupo CMO  |  14 mayo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983480"/>
            <a:ext cx="6400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13 / 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017"/>
                </a:solidFill>
              </a:rPr>
              <a:t>CIERRE — COMPROMISOS Y PRÓXIMOS PASOS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594360"/>
            <a:ext cx="2651760" cy="301752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594360"/>
            <a:ext cx="2651760" cy="4114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594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HOY — 15/05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" y="1069848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29768" y="1069848"/>
            <a:ext cx="45720" cy="53035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39496" y="106984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Depositar CTS las 4 empresas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1655064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29768" y="1655064"/>
            <a:ext cx="45720" cy="53035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39496" y="16550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Convocar Junta CMO (Art. 220)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" y="2240280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29768" y="2240280"/>
            <a:ext cx="45720" cy="53035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39496" y="224028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participaciones INTEGRAL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" y="2825496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29768" y="2825496"/>
            <a:ext cx="45720" cy="53035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39496" y="28254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sueldos MEDARQ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594360"/>
            <a:ext cx="2651760" cy="301752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200400" y="594360"/>
            <a:ext cx="2651760" cy="41148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00400" y="594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PROXIMOS 15 DIAS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10128" y="1069848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310128" y="1069848"/>
            <a:ext cx="45720" cy="53035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419856" y="106984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asiento BBVA -S/13M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1655064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310128" y="1655064"/>
            <a:ext cx="45720" cy="53035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419856" y="16550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Reconciliar S/1.83M INTEGRAL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0128" y="2240280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310128" y="2240280"/>
            <a:ext cx="45720" cy="53035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419856" y="224028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provisiones MEDARQ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10128" y="2825496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3310128" y="2825496"/>
            <a:ext cx="45720" cy="530352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3419856" y="28254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asesor Precios de Transferencia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594360"/>
            <a:ext cx="2651760" cy="3017520"/>
          </a:xfrm>
          <a:prstGeom prst="rect">
            <a:avLst/>
          </a:prstGeom>
          <a:solidFill>
            <a:srgbClr val="13284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6080760" y="594360"/>
            <a:ext cx="265176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080760" y="594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30-60 DIAS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90488" y="1069848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6190488" y="1069848"/>
            <a:ext cx="45720" cy="5303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300216" y="106984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demanda cobro PERGOLA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90488" y="1655064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6190488" y="1655064"/>
            <a:ext cx="45720" cy="5303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6300216" y="165506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9,809 asientos futuros CMO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90488" y="2240280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6190488" y="2240280"/>
            <a:ext cx="45720" cy="5303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6300216" y="224028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Asientos correctivos ERP (AC-01 a AC-14)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90488" y="2825496"/>
            <a:ext cx="2423160" cy="530352"/>
          </a:xfrm>
          <a:prstGeom prst="rect">
            <a:avLst/>
          </a:prstGeom>
          <a:solidFill>
            <a:srgbClr val="1A2F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6190488" y="2825496"/>
            <a:ext cx="45720" cy="5303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6300216" y="2825496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final sobre migracion ERP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3794760"/>
            <a:ext cx="8503920" cy="2743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320040" y="37947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PROXIMA REUNION: acordar fecha con finanzas y contabilidad  |  Responsable: Gerencia General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2061</Words>
  <Application>Microsoft Office PowerPoint</Application>
  <PresentationFormat>Presentación en pantalla (16:9)</PresentationFormat>
  <Paragraphs>319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Reunión de Revisión y Regularización Contable — Grupo CMO 2026</dc:title>
  <dc:subject>PptxGenJS Presentation</dc:subject>
  <dc:creator>Auditoría BizSmartHub</dc:creator>
  <cp:lastModifiedBy>jhovanny merino</cp:lastModifiedBy>
  <cp:revision>1</cp:revision>
  <dcterms:created xsi:type="dcterms:W3CDTF">2026-05-14T12:05:01Z</dcterms:created>
  <dcterms:modified xsi:type="dcterms:W3CDTF">2026-05-14T12:31:49Z</dcterms:modified>
</cp:coreProperties>
</file>