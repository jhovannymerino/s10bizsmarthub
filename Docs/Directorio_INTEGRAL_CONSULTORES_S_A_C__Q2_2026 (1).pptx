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65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INTEGRAL CONSULTORES S.A.C.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5C1A"/>
                </a:solidFill>
              </a:rPr>
              <a:t>DIRECTORIO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Q2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B4BB"/>
                </a:solidFill>
              </a:rPr>
              <a:t>Business Review · Abr – Jun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7A8"/>
                </a:solidFill>
              </a:rPr>
              <a:t>CMO Group · Infraestructura hospitalaria · Excelencia operativa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7A8"/>
                </a:solidFill>
              </a:rPr>
              <a:t>Sesión Confidencial de Directorio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· 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460857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Resumen Ejecutivo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P&amp;L: Ingreso, Margen, GAV, EBITDA — Q y YTD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Indicadores Clave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KPIs con umbrales del Directorio (semáforo)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Análisis de GAV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 administrativos por categoría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Productividad (Horas Hombre)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HH disponibles, facturadas y utilización 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Cuentas por Cobrar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Aging y concentración de cartera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Posición de Caja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Flujo neto del trimestre y YTD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Backlog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Cartera de proyectos en ejecución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Pipeline &amp; VxF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Oportunidades del próximo trimestre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09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Green Flags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Logros y avances del trimestre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 Flags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Riesgos, alertas y plan de mitigación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Must Win Battles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Hitos críticos del próximo trimestre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5C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Acuerdos del Directorio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Compromisos y próximos pasos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 · RESUMEN EJECUTIVO Q2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Q2 2026 (Abr – Jun)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049765"/>
              </p:ext>
            </p:extLst>
          </p:nvPr>
        </p:nvGraphicFramePr>
        <p:xfrm>
          <a:off x="365760" y="1371600"/>
          <a:ext cx="5577840" cy="259689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 (S/)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Ingresos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               OK 3,949,797                                                                                                                     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3,949,797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(−) Costo Directo (COGS) )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756,965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1,124,962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Margen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Bruto                                                    </a:t>
                      </a:r>
                      <a:r>
                        <a:rPr lang="en-US" sz="1000" b="1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3,192,832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2,824,836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(−) GAV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1,588,113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1,188,600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EBITDA                                                                 </a:t>
                      </a:r>
                      <a:r>
                        <a:rPr lang="en-US" sz="1000" b="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1,604,719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</a:t>
                      </a:r>
                    </a:p>
                    <a:p>
                      <a:pPr marL="0" indent="0">
                        <a:buNone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DEPRECIACIÓN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          </a:t>
                      </a:r>
                      <a:r>
                        <a:rPr lang="en-US" sz="1000" b="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10,150</a:t>
                      </a:r>
                      <a:endParaRPr lang="en-US" sz="1000" b="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1,636,236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(−)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Financieros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117,659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5,074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Utilidad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Neta                                                     </a:t>
                      </a:r>
                      <a:r>
                        <a:rPr lang="en-US" sz="1000" b="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1,476,910</a:t>
                      </a:r>
                      <a:endParaRPr lang="en-US" sz="1000" b="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1,524,795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0515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YTD 2026</a:t>
            </a:r>
            <a:endParaRPr lang="en-US" sz="11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61228"/>
              </p:ext>
            </p:extLst>
          </p:nvPr>
        </p:nvGraphicFramePr>
        <p:xfrm>
          <a:off x="6263640" y="1371600"/>
          <a:ext cx="5577840" cy="2646715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 (S/)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Ingresos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                  ok 7,130,724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7,130,724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(−) Costo Directo (COGS)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1,877,677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2,158,380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4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Margen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Bruto                                                       </a:t>
                      </a:r>
                      <a:r>
                        <a:rPr lang="en-US" sz="1000" b="1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5,253,047</a:t>
                      </a:r>
                      <a:endParaRPr lang="en-US" sz="1000" b="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4,972,344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(−) GAV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2,575,667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2,386,319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EBITDA</a:t>
                      </a:r>
                      <a:r>
                        <a:rPr lang="en-US" sz="1000" b="1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                        2,677,380                                                                 </a:t>
                      </a:r>
                    </a:p>
                    <a:p>
                      <a:pPr marL="0" indent="0">
                        <a:buNone/>
                      </a:pPr>
                      <a:endParaRPr lang="en-US" sz="1000" b="1" dirty="0">
                        <a:solidFill>
                          <a:srgbClr val="0000FF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0000FF"/>
                          </a:solidFill>
                          <a:latin typeface="Inter" charset="0"/>
                          <a:ea typeface="Inter" charset="0"/>
                          <a:cs typeface="Inter" charset="0"/>
                        </a:rPr>
                        <a:t>DEPRECIACIÓN                                                                     18,498</a:t>
                      </a: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2,586,025</a:t>
                      </a:r>
                    </a:p>
                    <a:p>
                      <a:pPr marL="0" indent="0" algn="r">
                        <a:buNone/>
                      </a:pPr>
                      <a:endParaRPr lang="en-US" sz="1000" b="1" dirty="0">
                        <a:solidFill>
                          <a:srgbClr val="0E1A2E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Ingresos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/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Financieros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neto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31,259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7,933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Utilidad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Neta                                                       </a:t>
                      </a:r>
                      <a:r>
                        <a:rPr lang="en-US" sz="1000" b="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2,690,141</a:t>
                      </a:r>
                      <a:endParaRPr lang="en-US" sz="1000" b="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2,623,864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 · INDICADORES CLAVE — Umbrales del Directorio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139696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F-03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45336" y="1463040"/>
            <a:ext cx="86868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545336" y="14630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Margen Bruto 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71.5%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00FF"/>
                </a:solidFill>
                <a:latin typeface="Consolas" pitchFamily="34" charset="0"/>
              </a:rPr>
              <a:t>73.7%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7A8"/>
                </a:solidFill>
              </a:rPr>
              <a:t>Target &gt;40% · Alerta &lt;30%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88336" y="1371600"/>
            <a:ext cx="2139696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779776" y="146304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F-02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67912" y="1463040"/>
            <a:ext cx="86868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867912" y="14630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9776" y="178308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COGS 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79776" y="214884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28.5%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FF"/>
                </a:solidFill>
                <a:latin typeface="Consolas" pitchFamily="34" charset="0"/>
              </a:rPr>
              <a:t>26.3%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79776" y="29260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7A8"/>
                </a:solidFill>
              </a:rPr>
              <a:t>Target &lt;60% · Alerta &gt;65%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10912" y="1371600"/>
            <a:ext cx="2139696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102352" y="146304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F-04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0488" y="1463040"/>
            <a:ext cx="86868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190488" y="14630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Alerta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2352" y="178308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GAV 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214884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30.1% </a:t>
            </a:r>
            <a:r>
              <a:rPr lang="en-US" sz="2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36.1%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02352" y="29260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7A8"/>
                </a:solidFill>
              </a:rPr>
              <a:t>Target &lt;25% · Alerta &gt;30%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3488" y="1371600"/>
            <a:ext cx="2139696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7424928" y="146304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F-05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13064" y="1463040"/>
            <a:ext cx="86868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8513064" y="14630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24928" y="178308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EBITDA 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24928" y="214884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41.4% </a:t>
            </a:r>
            <a:r>
              <a:rPr lang="en-US" sz="2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37.5%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24928" y="29260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7A8"/>
                </a:solidFill>
              </a:rPr>
              <a:t>Target &gt;15% · Alerta &lt;8%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656064" y="1371600"/>
            <a:ext cx="2139696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9747504" y="146304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O-02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835640" y="1463040"/>
            <a:ext cx="86868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10835640" y="14630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Alerta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47504" y="178308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E"/>
                </a:solidFill>
              </a:rPr>
              <a:t>DSO (días)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47504" y="214884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101d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747504" y="29260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7A8"/>
                </a:solidFill>
              </a:rPr>
              <a:t>Target &lt;60d · Alerta &gt;90d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B4BB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 · ANÁLISIS DE GAV — YTD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385777"/>
              </p:ext>
            </p:extLst>
          </p:nvPr>
        </p:nvGraphicFramePr>
        <p:xfrm>
          <a:off x="365760" y="1097280"/>
          <a:ext cx="1143000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Cuenta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Descripción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YTD (S/)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 Total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 DE PERSONAL                             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1,167,892</a:t>
                      </a: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826,883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34.6%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 GENERALES                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323,869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713,878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29.9%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957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 Generales o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Diversos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130,049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392,624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Uniformes e Impl.Seguridad, Otros Servicios y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109,717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318,834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956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Cargas de Personal Ventas      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391,304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71,810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951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Marketing, Venta y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Postventa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129,329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46,534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INSUMOS                                      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42,011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15,577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ALQUILER DE EQUIPOS                              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281,496</a:t>
                      </a:r>
                      <a:endParaRPr lang="en-US" sz="1000" dirty="0">
                        <a:solidFill>
                          <a:srgbClr val="0000FF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8B97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GAV                                                                                                                   </a:t>
                      </a:r>
                      <a:r>
                        <a:rPr lang="en-US" sz="1000" b="1" dirty="0">
                          <a:solidFill>
                            <a:srgbClr val="0000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2,575,667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2,386,319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100.0%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B4BB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 · ANÁLISIS DE CUENTAS x COBRAR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COMERCIALES </a:t>
            </a:r>
            <a:r>
              <a:rPr lang="en-US" sz="1400" b="1" dirty="0">
                <a:solidFill>
                  <a:srgbClr val="FFFFFF"/>
                </a:solidFill>
              </a:rPr>
              <a:t>(CxC) — Al cierre  Q2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20340" cy="16459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7203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CxC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628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3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4,448,503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68980" y="1005840"/>
            <a:ext cx="2720340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3268980" y="1170432"/>
            <a:ext cx="27203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360420" y="121615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Vigente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14700" y="1508760"/>
            <a:ext cx="2628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661,604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20340" cy="164592"/>
          </a:xfrm>
          <a:prstGeom prst="rect">
            <a:avLst/>
          </a:prstGeom>
          <a:solidFill>
            <a:srgbClr val="5B86E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172200" y="1170432"/>
            <a:ext cx="27203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263640" y="121615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Cedido (Factoring)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628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75420" y="1005840"/>
            <a:ext cx="2720340" cy="1645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075420" y="1170432"/>
            <a:ext cx="27203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66860" y="121615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Incobrable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21140" y="1508760"/>
            <a:ext cx="2628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0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886327"/>
              </p:ext>
            </p:extLst>
          </p:nvPr>
        </p:nvGraphicFramePr>
        <p:xfrm>
          <a:off x="365760" y="2377440"/>
          <a:ext cx="11841480" cy="400964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Vigente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0–30 días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30–60 días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60–90 días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+90 días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Comentario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CONSORCIO SAN MIGUEL                                       </a:t>
                      </a:r>
                      <a:endParaRPr lang="en-US" sz="900" dirty="0">
                        <a:solidFill>
                          <a:srgbClr val="0000FF"/>
                        </a:solidFill>
                        <a:highlight>
                          <a:srgbClr val="FFFF00"/>
                        </a:highlight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841,531</a:t>
                      </a: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r>
                        <a:rPr lang="en-US" sz="900" strike="sngStrike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248,604</a:t>
                      </a: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      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strike="sngStrike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1,102,134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841,531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CHINA ROAD AND BRIDGE CORPORATION SUCURSAL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795,313</a:t>
                      </a: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r>
                        <a:rPr lang="en-US" sz="900" strike="sngStrike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413,000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strike="sngStrike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481,065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795,313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CONSTRUCTORA &amp; INMOBILIARIA SAGITARIO Y AS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648,528    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648,528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CONSULTORIA &amp; CONSTRUCCION GRUPO PERGOLA 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484,464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484,464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MESCO INGENIEROS E.I.R.L.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477,900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477,900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CONSORCIO STILER - RIPCONCIV - TECNOEDIL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472,000</a:t>
                      </a: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  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strike="sngStrike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236,000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   </a:t>
                      </a:r>
                      <a:r>
                        <a:rPr lang="en-US" sz="900" strike="sngStrike" dirty="0">
                          <a:solidFill>
                            <a:srgbClr val="E25C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236,000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472,000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INGENIERIAS Y OBRAS DE CONSTRUCCION RIUMAR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337,200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337,200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strike="sngStrike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CMO GROUP S.A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  CONSORCIO RC ALLIANCE</a:t>
                      </a:r>
                      <a:endParaRPr lang="en-US" sz="900" dirty="0">
                        <a:highlight>
                          <a:srgbClr val="FFFF00"/>
                        </a:highlight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59,000 </a:t>
                      </a: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 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r>
                        <a:rPr lang="en-US" sz="900" dirty="0">
                          <a:solidFill>
                            <a:srgbClr val="EF4444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</a:t>
                      </a:r>
                      <a:r>
                        <a:rPr lang="en-US" sz="900" strike="sngStrike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86,234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r>
                        <a:rPr lang="en-US" sz="900" b="1" dirty="0">
                          <a:solidFill>
                            <a:srgbClr val="EF4444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</a:t>
                      </a:r>
                      <a:r>
                        <a:rPr lang="en-US" sz="900" b="1" strike="sngStrike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86,234</a:t>
                      </a:r>
                      <a:endParaRPr lang="en-US" sz="9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59,000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CONSORCIO RIO HUATANAY</a:t>
                      </a:r>
                    </a:p>
                    <a:p>
                      <a:pPr marL="0" indent="0">
                        <a:buNone/>
                      </a:pPr>
                      <a:endParaRPr lang="en-US" sz="900" dirty="0">
                        <a:solidFill>
                          <a:srgbClr val="000000"/>
                        </a:solidFill>
                        <a:latin typeface="Inter" pitchFamily="34" charset="0"/>
                        <a:ea typeface="Inter" pitchFamily="34" charset="-122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INMAC PERU SAC           </a:t>
                      </a:r>
                    </a:p>
                    <a:p>
                      <a:pPr marL="0" indent="0">
                        <a:buNone/>
                      </a:pPr>
                      <a:endParaRPr lang="en-US" sz="900" dirty="0">
                        <a:solidFill>
                          <a:srgbClr val="000000"/>
                        </a:solidFill>
                        <a:latin typeface="Inter" pitchFamily="34" charset="0"/>
                        <a:ea typeface="Inter" pitchFamily="34" charset="-122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CONSORCIO PENAL PUCALLPA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129,800</a:t>
                      </a:r>
                    </a:p>
                    <a:p>
                      <a:pPr marL="0" indent="0" algn="r">
                        <a:buNone/>
                      </a:pPr>
                      <a:endParaRPr lang="en-US" sz="900" b="1" dirty="0">
                        <a:solidFill>
                          <a:srgbClr val="EF4444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22,039</a:t>
                      </a:r>
                    </a:p>
                    <a:p>
                      <a:pPr marL="0" indent="0" algn="r">
                        <a:buNone/>
                      </a:pPr>
                      <a:endParaRPr lang="en-US" sz="900" b="1" dirty="0">
                        <a:solidFill>
                          <a:srgbClr val="0000FF"/>
                        </a:solidFill>
                        <a:highlight>
                          <a:srgbClr val="FFFF00"/>
                        </a:highlight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29,500</a:t>
                      </a:r>
                      <a:endParaRPr lang="en-US" sz="900" dirty="0">
                        <a:solidFill>
                          <a:srgbClr val="0000FF"/>
                        </a:solidFill>
                        <a:highlight>
                          <a:srgbClr val="FFFF00"/>
                        </a:highlight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129,800   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dirty="0">
                        <a:solidFill>
                          <a:srgbClr val="000000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22,039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29,500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highlight>
                          <a:srgbClr val="FFFF00"/>
                        </a:highlight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8B97A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7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r>
                        <a:rPr lang="en-US" sz="900" b="1" strike="sngStrike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661,604  </a:t>
                      </a: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2,014,444</a:t>
                      </a:r>
                      <a:endParaRPr lang="en-US" sz="900" dirty="0">
                        <a:solidFill>
                          <a:srgbClr val="0000FF"/>
                        </a:solidFill>
                        <a:highlight>
                          <a:srgbClr val="FFFF00"/>
                        </a:highlight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strike="sngStrike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1,871,118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strike="sngStrike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236,000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900" b="1" strike="sngStrike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132,160</a:t>
                      </a:r>
                      <a:endParaRPr lang="en-US" sz="900" strike="sngStrike" dirty="0">
                        <a:solidFill>
                          <a:srgbClr val="0000FF"/>
                        </a:solidFill>
                        <a:highlight>
                          <a:srgbClr val="FFFF00"/>
                        </a:highlight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86,234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0</a:t>
                      </a:r>
                      <a:endParaRPr lang="en-US" sz="900" dirty="0">
                        <a:solidFill>
                          <a:srgbClr val="0000FF"/>
                        </a:solidFill>
                        <a:highlight>
                          <a:srgbClr val="FFFF00"/>
                        </a:highlight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strike="sngStrike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2,215,665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900" b="1" strike="noStrike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2,129,431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900" strike="sngStrike" dirty="0">
                          <a:latin typeface="Consolas" charset="0"/>
                          <a:ea typeface="Consolas" charset="0"/>
                          <a:cs typeface="Consolas" charset="0"/>
                        </a:rPr>
                        <a:t>22,</a:t>
                      </a: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strike="sngStrike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4,448,503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FF"/>
                          </a:solidFill>
                          <a:highlight>
                            <a:srgbClr val="FFFF00"/>
                          </a:highlight>
                          <a:latin typeface="Consolas" charset="0"/>
                          <a:ea typeface="Consolas" charset="0"/>
                          <a:cs typeface="Consolas" charset="0"/>
                        </a:rPr>
                        <a:t>4,297,275</a:t>
                      </a: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7A8"/>
                </a:solidFill>
              </a:rPr>
              <a:t>Top 9 de 12 clientes · Aging por FechaVencimiento del documento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B4BB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941" y="-9144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 · POSICIÓN DE CAJA  Q2 2026   </a:t>
            </a:r>
            <a:r>
              <a:rPr lang="en-US" sz="1400" b="1" dirty="0">
                <a:solidFill>
                  <a:srgbClr val="FFFF00"/>
                </a:solidFill>
              </a:rPr>
              <a:t>(</a:t>
            </a:r>
            <a:r>
              <a:rPr lang="en-US" sz="1400" b="1" dirty="0" err="1">
                <a:solidFill>
                  <a:srgbClr val="FFFF00"/>
                </a:solidFill>
              </a:rPr>
              <a:t>tomar</a:t>
            </a:r>
            <a:r>
              <a:rPr lang="en-US" sz="1400" b="1" dirty="0">
                <a:solidFill>
                  <a:srgbClr val="FFFF00"/>
                </a:solidFill>
              </a:rPr>
              <a:t> la </a:t>
            </a:r>
            <a:r>
              <a:rPr lang="en-US" sz="1400" b="1" dirty="0" err="1">
                <a:solidFill>
                  <a:srgbClr val="FFFF00"/>
                </a:solidFill>
              </a:rPr>
              <a:t>siguiente</a:t>
            </a:r>
            <a:r>
              <a:rPr lang="en-US" sz="1400" b="1" dirty="0">
                <a:solidFill>
                  <a:srgbClr val="FFFF00"/>
                </a:solidFill>
              </a:rPr>
              <a:t> </a:t>
            </a:r>
            <a:r>
              <a:rPr lang="en-US" sz="1400" b="1" dirty="0" err="1">
                <a:solidFill>
                  <a:srgbClr val="FFFF00"/>
                </a:solidFill>
              </a:rPr>
              <a:t>diapositiva</a:t>
            </a:r>
            <a:r>
              <a:rPr lang="en-US" sz="1400" b="1" dirty="0">
                <a:solidFill>
                  <a:srgbClr val="FFFF00"/>
                </a:solidFill>
              </a:rPr>
              <a:t>)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20340" cy="164592"/>
          </a:xfrm>
          <a:prstGeom prst="rect">
            <a:avLst/>
          </a:prstGeom>
          <a:solidFill>
            <a:srgbClr val="5B86E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Saldo Inicial Q2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</a:t>
            </a:r>
            <a:r>
              <a:rPr lang="en-US" sz="1800" b="1" strike="sngStrike" dirty="0">
                <a:solidFill>
                  <a:srgbClr val="5B8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1,222,608</a:t>
            </a:r>
            <a:endParaRPr lang="en-US" sz="1800" strike="sngStrike" dirty="0"/>
          </a:p>
        </p:txBody>
      </p:sp>
      <p:sp>
        <p:nvSpPr>
          <p:cNvPr id="9" name="Shape 7"/>
          <p:cNvSpPr/>
          <p:nvPr/>
        </p:nvSpPr>
        <p:spPr>
          <a:xfrm>
            <a:off x="3268980" y="1051560"/>
            <a:ext cx="2720340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326898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36042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Entradas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1470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</a:t>
            </a:r>
            <a:r>
              <a:rPr lang="en-US" sz="1800" b="1" strike="sngStrike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4,054,871</a:t>
            </a:r>
            <a:endParaRPr lang="en-US" sz="1800" strike="sngStrike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20340" cy="1645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17220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26364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Salidas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</a:t>
            </a:r>
            <a:r>
              <a:rPr lang="en-US" sz="1800" b="1" strike="sngStrike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5,233,623</a:t>
            </a:r>
            <a:endParaRPr lang="en-US" sz="1800" strike="sngStrike" dirty="0"/>
          </a:p>
        </p:txBody>
      </p:sp>
      <p:sp>
        <p:nvSpPr>
          <p:cNvPr id="17" name="Shape 15"/>
          <p:cNvSpPr/>
          <p:nvPr/>
        </p:nvSpPr>
        <p:spPr>
          <a:xfrm>
            <a:off x="9075420" y="1051560"/>
            <a:ext cx="2720340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07542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6686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Saldo Final Q2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2114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</a:t>
            </a:r>
            <a:r>
              <a:rPr lang="en-US" sz="1800" b="1" strike="sngStrike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43,856</a:t>
            </a:r>
            <a:endParaRPr lang="en-US" sz="1800" strike="sngStrike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79635"/>
              </p:ext>
            </p:extLst>
          </p:nvPr>
        </p:nvGraphicFramePr>
        <p:xfrm>
          <a:off x="365760" y="2423160"/>
          <a:ext cx="11430000" cy="32308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 Total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Saldo inicial del período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1,222,608 </a:t>
                      </a:r>
                      <a:endParaRPr lang="en-US" sz="1000" b="1" strike="noStrike" dirty="0">
                        <a:solidFill>
                          <a:srgbClr val="0000FF"/>
                        </a:solidFill>
                        <a:latin typeface="Consolas" pitchFamily="34" charset="0"/>
                        <a:ea typeface="Consolas" pitchFamily="34" charset="-122"/>
                        <a:cs typeface="Consolas" pitchFamily="34" charset="-12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b="1" strike="noStrike" dirty="0">
                          <a:solidFill>
                            <a:srgbClr val="0000FF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1,214,667</a:t>
                      </a:r>
                      <a:endParaRPr lang="en-US" sz="1000" strike="noStrike" dirty="0">
                        <a:solidFill>
                          <a:srgbClr val="0000FF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14,282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000" b="1" strike="noStrike" dirty="0">
                          <a:solidFill>
                            <a:srgbClr val="0000FF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11,226</a:t>
                      </a:r>
                      <a:endParaRPr lang="en-US" sz="1000" strike="noStrike" dirty="0">
                        <a:solidFill>
                          <a:srgbClr val="0000FF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51,346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000" b="1" strike="noStrike" dirty="0">
                          <a:solidFill>
                            <a:srgbClr val="0000FF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47,528</a:t>
                      </a:r>
                      <a:endParaRPr lang="en-US" sz="1000" strike="noStrike" dirty="0">
                        <a:solidFill>
                          <a:srgbClr val="0000FF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1,222,608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000" b="1" strike="noStrike" dirty="0">
                          <a:solidFill>
                            <a:srgbClr val="0000FF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213,970</a:t>
                      </a:r>
                      <a:endParaRPr lang="en-US" sz="1000" strike="noStrike" dirty="0">
                        <a:solidFill>
                          <a:srgbClr val="0000FF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ENTRADAS DE CAJA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Cobros a clientes / facturas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440,578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1,748,022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1,866,271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4,054,871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Entradas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440,578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1,748,022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1,866,271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4,054,871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SALIDAS DE CAJA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strike="sngStrike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Remuneraciones y honorarios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204,528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467,541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669,933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1,342,002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Proveedores, arriendo, servicios y otros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939,087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763,978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1,703,065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SUNAT / impuestos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1,771,641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304,329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439,850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2,515,820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Salidas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1,648,905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1,710,957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1,873,761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5,233,623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SALDO FINAL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14,282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51,346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43,856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strike="sngStrike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43,856</a:t>
                      </a:r>
                      <a:endParaRPr lang="en-US" sz="1000" strike="sngStrike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B4B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 · POSICIÓN DE CAJA  Q2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A8"/>
                </a:solidFill>
              </a:rPr>
              <a:t>INTEGRAL CONSULTORES S.A.C. · Directorio Q2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20340" cy="164592"/>
          </a:xfrm>
          <a:prstGeom prst="rect">
            <a:avLst/>
          </a:prstGeom>
          <a:solidFill>
            <a:srgbClr val="5B86E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Saldo Inicial Q2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213,970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68980" y="1051560"/>
            <a:ext cx="2720340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326898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36042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Entradas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1470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9,482,401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20340" cy="1645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17220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26364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Total Salidas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9,690,001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75420" y="1051560"/>
            <a:ext cx="2720340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075420" y="1216152"/>
            <a:ext cx="27203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66860" y="1261872"/>
            <a:ext cx="2537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7A8"/>
                </a:solidFill>
              </a:rPr>
              <a:t>Saldo Final Q2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21140" y="1572768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6,370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365760" y="2423160"/>
          <a:ext cx="11430000" cy="33832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 Total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Saldo inicial del período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1,214,667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11,226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47,528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213,970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ENTRADAS DE CAJA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Cobros a clientes / facturas</a:t>
                      </a:r>
                    </a:p>
                    <a:p>
                      <a:pPr marL="0" indent="0">
                        <a:buNone/>
                      </a:pPr>
                      <a:endParaRPr lang="en-US" sz="1000" dirty="0">
                        <a:solidFill>
                          <a:srgbClr val="1A6B30"/>
                        </a:solidFill>
                        <a:latin typeface="Inter" pitchFamily="34" charset="0"/>
                        <a:ea typeface="Inter" pitchFamily="34" charset="-122"/>
                        <a:cs typeface="Int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Anticipos</a:t>
                      </a:r>
                      <a:r>
                        <a:rPr lang="en-US" sz="1000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 y </a:t>
                      </a:r>
                      <a:r>
                        <a:rPr lang="en-US" sz="1000" dirty="0" err="1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otros</a:t>
                      </a:r>
                      <a:r>
                        <a:rPr lang="en-US" sz="1000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ingresos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147,028</a:t>
                      </a:r>
                    </a:p>
                    <a:p>
                      <a:pPr marL="0" indent="0" algn="r">
                        <a:buNone/>
                      </a:pPr>
                      <a:endParaRPr lang="en-US" sz="1000" dirty="0">
                        <a:solidFill>
                          <a:srgbClr val="1A6B30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dirty="0">
                          <a:latin typeface="Consolas" charset="0"/>
                          <a:ea typeface="Consolas" charset="0"/>
                          <a:cs typeface="Consolas" charset="0"/>
                        </a:rPr>
                        <a:t>213,085</a:t>
                      </a: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449,918</a:t>
                      </a:r>
                    </a:p>
                    <a:p>
                      <a:pPr marL="0" indent="0" algn="r">
                        <a:buNone/>
                      </a:pPr>
                      <a:endParaRPr lang="en-US" sz="1000" dirty="0">
                        <a:solidFill>
                          <a:srgbClr val="1A6B30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dirty="0">
                          <a:latin typeface="Consolas" charset="0"/>
                          <a:ea typeface="Consolas" charset="0"/>
                          <a:cs typeface="Consolas" charset="0"/>
                        </a:rPr>
                        <a:t>854,089</a:t>
                      </a: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1,249,284</a:t>
                      </a:r>
                    </a:p>
                    <a:p>
                      <a:pPr marL="0" indent="0" algn="r">
                        <a:buNone/>
                      </a:pPr>
                      <a:endParaRPr lang="en-US" sz="1000" dirty="0">
                        <a:solidFill>
                          <a:srgbClr val="1A6B30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233,686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7,406,602</a:t>
                      </a:r>
                    </a:p>
                    <a:p>
                      <a:pPr marL="0" indent="0" algn="r">
                        <a:buNone/>
                      </a:pPr>
                      <a:endParaRPr lang="en-US" sz="1000" b="1" dirty="0">
                        <a:solidFill>
                          <a:srgbClr val="1A6B30"/>
                        </a:solidFill>
                        <a:latin typeface="Consolas" pitchFamily="34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2,075,799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Entradas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360,113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1,304,007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1,482,970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6B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9,482,401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SALIDAS DE CAJA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Remuneraciones y honorarios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275,322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405,879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479,140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1,995,637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Proveedores, arriendo, servicios y otros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820,967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693,222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767,446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5,406,180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 SUNAT / impuestos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467,265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168,604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277,542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E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2,288,184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Salidas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1,563,554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1,267,705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1,524,129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9,690,001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SALDO FINAL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11,226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47,528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6,370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6,370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7A8"/>
                </a:solidFill>
              </a:rPr>
              <a:t>Sesión Confidencial de Directorio · </a:t>
            </a:r>
            <a:r>
              <a:rPr lang="en-US" sz="800" b="1" dirty="0">
                <a:solidFill>
                  <a:srgbClr val="8B97A8"/>
                </a:solidFill>
              </a:rPr>
              <a:t>INTEGRAL CONSULTORES S.A.C.</a:t>
            </a:r>
            <a:r>
              <a:rPr lang="en-US" sz="800" dirty="0">
                <a:solidFill>
                  <a:srgbClr val="8B97A8"/>
                </a:solidFill>
              </a:rPr>
              <a:t> · Q2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B4B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1106</Words>
  <Application>Microsoft Office PowerPoint</Application>
  <PresentationFormat>Panorámica</PresentationFormat>
  <Paragraphs>417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Consolas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INTEGRAL CONSULTORES S.A.C. · Directorio Q2 2026</dc:title>
  <dc:subject>PptxGenJS Presentation</dc:subject>
  <dc:creator>S10 BizSmartHub</dc:creator>
  <cp:lastModifiedBy>Carola Martorellet Lumbreras</cp:lastModifiedBy>
  <cp:revision>6</cp:revision>
  <cp:lastPrinted>2026-07-17T20:36:08Z</cp:lastPrinted>
  <dcterms:created xsi:type="dcterms:W3CDTF">2026-07-17T16:34:46Z</dcterms:created>
  <dcterms:modified xsi:type="dcterms:W3CDTF">2026-07-18T00:39:15Z</dcterms:modified>
</cp:coreProperties>
</file>